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Montserra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24496214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24496214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4496214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24496214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244962144d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244962144d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244962144d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244962144d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244962144d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244962144d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244962144d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244962144d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244962144d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244962144d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244962144d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244962144d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244962144d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1244962144d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7c39588ba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7c39588ba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44962144d_0_4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44962144d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244962144d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244962144d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244962144d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244962144d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244962144d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244962144d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244962144d_0_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244962144d_0_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44fb7dcf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244fb7dc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44fb7dcf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44fb7dcf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244fb7dcf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244fb7dcf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244fb7dcf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244fb7dcf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244962144d_0_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244962144d_0_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561692" y="882218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7950" y="16835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/>
          <p:nvPr/>
        </p:nvSpPr>
        <p:spPr>
          <a:xfrm>
            <a:off x="780900" y="1686025"/>
            <a:ext cx="7179300" cy="89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" name="Google Shape;20;p3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1297975"/>
            <a:ext cx="76887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32" name="Google Shape;32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" name="Google Shape;3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729325" y="1297975"/>
            <a:ext cx="37743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4643601" y="1297975"/>
            <a:ext cx="37743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1" name="Google Shape;41;p5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42" name="Google Shape;42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" name="Google Shape;44;p5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pic>
        <p:nvPicPr>
          <p:cNvPr id="45" name="Google Shape;4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50" name="Google Shape;50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6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6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pic>
        <p:nvPicPr>
          <p:cNvPr id="54" name="Google Shape;5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58" name="Google Shape;58;p7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59" name="Google Shape;59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7"/>
          <p:cNvSpPr/>
          <p:nvPr/>
        </p:nvSpPr>
        <p:spPr>
          <a:xfrm>
            <a:off x="0" y="0"/>
            <a:ext cx="9144000" cy="6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3" name="Google Shape;63;p7"/>
          <p:cNvSpPr txBox="1"/>
          <p:nvPr>
            <p:ph idx="1" type="body"/>
          </p:nvPr>
        </p:nvSpPr>
        <p:spPr>
          <a:xfrm>
            <a:off x="729325" y="1297975"/>
            <a:ext cx="37743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64" name="Google Shape;6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7" name="Google Shape;6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9"/>
          <p:cNvSpPr txBox="1"/>
          <p:nvPr>
            <p:ph type="title"/>
          </p:nvPr>
        </p:nvSpPr>
        <p:spPr>
          <a:xfrm>
            <a:off x="486125" y="1133925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9"/>
          <p:cNvSpPr txBox="1"/>
          <p:nvPr>
            <p:ph idx="1" type="subTitle"/>
          </p:nvPr>
        </p:nvSpPr>
        <p:spPr>
          <a:xfrm>
            <a:off x="1169975" y="225467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76" name="Google Shape;76;p9"/>
          <p:cNvGrpSpPr/>
          <p:nvPr/>
        </p:nvGrpSpPr>
        <p:grpSpPr>
          <a:xfrm>
            <a:off x="562317" y="881818"/>
            <a:ext cx="745763" cy="45826"/>
            <a:chOff x="4580561" y="2589004"/>
            <a:chExt cx="1064464" cy="25200"/>
          </a:xfrm>
        </p:grpSpPr>
        <p:sp>
          <p:nvSpPr>
            <p:cNvPr id="77" name="Google Shape;77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9"/>
          <p:cNvSpPr txBox="1"/>
          <p:nvPr>
            <p:ph idx="2" type="body"/>
          </p:nvPr>
        </p:nvSpPr>
        <p:spPr>
          <a:xfrm>
            <a:off x="4643601" y="1297975"/>
            <a:ext cx="37743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id="80" name="Google Shape;8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62550" y="58775"/>
            <a:ext cx="1322450" cy="132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6" name="Google Shape;86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5" name="Google Shape;95;p13"/>
          <p:cNvSpPr txBox="1"/>
          <p:nvPr>
            <p:ph idx="1" type="body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0" type="dt"/>
          </p:nvPr>
        </p:nvSpPr>
        <p:spPr>
          <a:xfrm>
            <a:off x="228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7" name="Google Shape;97;p13"/>
          <p:cNvSpPr txBox="1"/>
          <p:nvPr>
            <p:ph idx="11" type="ftr"/>
          </p:nvPr>
        </p:nvSpPr>
        <p:spPr>
          <a:xfrm>
            <a:off x="1562100" y="3178175"/>
            <a:ext cx="1447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8" name="Google Shape;98;p13"/>
          <p:cNvSpPr txBox="1"/>
          <p:nvPr>
            <p:ph idx="12" type="sldNum"/>
          </p:nvPr>
        </p:nvSpPr>
        <p:spPr>
          <a:xfrm>
            <a:off x="3276600" y="3178175"/>
            <a:ext cx="1066800" cy="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2500" lnSpcReduction="20000"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hyperlink" Target="https://github.com/Center-for-Health-Data-Science/PythonTsunami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/>
          <p:nvPr>
            <p:ph type="ctrTitle"/>
          </p:nvPr>
        </p:nvSpPr>
        <p:spPr>
          <a:xfrm>
            <a:off x="727950" y="168350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Tsunami</a:t>
            </a:r>
            <a:endParaRPr/>
          </a:p>
        </p:txBody>
      </p:sp>
      <p:sp>
        <p:nvSpPr>
          <p:cNvPr id="104" name="Google Shape;104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1: Intro to Python by HeaDS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are we?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/>
        </p:nvSpPr>
        <p:spPr>
          <a:xfrm>
            <a:off x="729450" y="1069375"/>
            <a:ext cx="5543700" cy="3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mission of the Center is to strengthen health data science within the Faculty: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228600" rtl="0" algn="l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•"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Active and visible hub for Health Data Science 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•"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Providing data science support for researchers at SUND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•"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Courses, workshops and training environments to improve data science skills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2286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•"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Support a network of researchers and educators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Center for Health Data Science (HeaDS)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6703850" y="4388000"/>
            <a:ext cx="200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2"/>
                </a:solidFill>
                <a:latin typeface="Lato"/>
                <a:ea typeface="Lato"/>
                <a:cs typeface="Lato"/>
                <a:sym typeface="Lato"/>
              </a:rPr>
              <a:t>https://heads.ku.dk</a:t>
            </a:r>
            <a:endParaRPr>
              <a:solidFill>
                <a:schemeClr val="accent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10391" l="0" r="0" t="9857"/>
          <a:stretch/>
        </p:blipFill>
        <p:spPr>
          <a:xfrm>
            <a:off x="861200" y="3746125"/>
            <a:ext cx="4180900" cy="120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6475" y="1477962"/>
            <a:ext cx="1955850" cy="29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CENTER STRUCTURE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6446497" y="54127"/>
            <a:ext cx="1149022" cy="1149022"/>
          </a:xfrm>
          <a:custGeom>
            <a:rect b="b" l="l" r="r" t="t"/>
            <a:pathLst>
              <a:path extrusionOk="0" h="1392754" w="1392754">
                <a:moveTo>
                  <a:pt x="0" y="0"/>
                </a:moveTo>
                <a:lnTo>
                  <a:pt x="1392754" y="0"/>
                </a:lnTo>
                <a:lnTo>
                  <a:pt x="1392754" y="1392754"/>
                </a:lnTo>
                <a:lnTo>
                  <a:pt x="0" y="13927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6134100" y="4217659"/>
            <a:ext cx="23748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Courses, Consulting, </a:t>
            </a:r>
            <a:endParaRPr sz="1100"/>
          </a:p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Commissions, Supervision</a:t>
            </a:r>
            <a:endParaRPr sz="1100"/>
          </a:p>
        </p:txBody>
      </p:sp>
      <p:sp>
        <p:nvSpPr>
          <p:cNvPr id="126" name="Google Shape;126;p17"/>
          <p:cNvSpPr txBox="1"/>
          <p:nvPr/>
        </p:nvSpPr>
        <p:spPr>
          <a:xfrm>
            <a:off x="612162" y="2693030"/>
            <a:ext cx="23865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HPC environments</a:t>
            </a:r>
            <a:endParaRPr sz="1100"/>
          </a:p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Public &amp; synthetic data</a:t>
            </a:r>
            <a:endParaRPr sz="1100"/>
          </a:p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Courses and training</a:t>
            </a:r>
            <a:endParaRPr sz="1100"/>
          </a:p>
        </p:txBody>
      </p:sp>
      <p:sp>
        <p:nvSpPr>
          <p:cNvPr id="127" name="Google Shape;127;p17"/>
          <p:cNvSpPr txBox="1"/>
          <p:nvPr/>
        </p:nvSpPr>
        <p:spPr>
          <a:xfrm>
            <a:off x="5021020" y="1834363"/>
            <a:ext cx="27690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Generative modelling</a:t>
            </a:r>
            <a:endParaRPr sz="1100"/>
          </a:p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Representation learning</a:t>
            </a:r>
            <a:endParaRPr sz="1100"/>
          </a:p>
          <a:p>
            <a:pPr indent="0" lvl="0" marL="0" marR="0" rtl="0" algn="l">
              <a:lnSpc>
                <a:spcPct val="127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300" u="none" cap="none" strike="noStrike">
                <a:solidFill>
                  <a:srgbClr val="404040"/>
                </a:solidFill>
                <a:latin typeface="Montserrat"/>
                <a:ea typeface="Montserrat"/>
                <a:cs typeface="Montserrat"/>
                <a:sym typeface="Montserrat"/>
              </a:rPr>
              <a:t>Data Science in Epidemiology</a:t>
            </a:r>
            <a:endParaRPr sz="1100"/>
          </a:p>
        </p:txBody>
      </p:sp>
      <p:sp>
        <p:nvSpPr>
          <p:cNvPr id="128" name="Google Shape;128;p17"/>
          <p:cNvSpPr txBox="1"/>
          <p:nvPr/>
        </p:nvSpPr>
        <p:spPr>
          <a:xfrm>
            <a:off x="3094181" y="1701455"/>
            <a:ext cx="1571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24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949621" y="2784911"/>
            <a:ext cx="15711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247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0" name="Google Shape;130;p17"/>
          <p:cNvGrpSpPr/>
          <p:nvPr/>
        </p:nvGrpSpPr>
        <p:grpSpPr>
          <a:xfrm>
            <a:off x="2047758" y="1333888"/>
            <a:ext cx="3931505" cy="3489052"/>
            <a:chOff x="0" y="0"/>
            <a:chExt cx="5365045" cy="4761261"/>
          </a:xfrm>
        </p:grpSpPr>
        <p:sp>
          <p:nvSpPr>
            <p:cNvPr id="131" name="Google Shape;131;p17"/>
            <p:cNvSpPr/>
            <p:nvPr/>
          </p:nvSpPr>
          <p:spPr>
            <a:xfrm>
              <a:off x="2749327" y="0"/>
              <a:ext cx="2615718" cy="4241418"/>
            </a:xfrm>
            <a:custGeom>
              <a:rect b="b" l="l" r="r" t="t"/>
              <a:pathLst>
                <a:path extrusionOk="0" h="21366" w="21525">
                  <a:moveTo>
                    <a:pt x="1956" y="14925"/>
                  </a:moveTo>
                  <a:cubicBezTo>
                    <a:pt x="20377" y="21296"/>
                    <a:pt x="20377" y="21296"/>
                    <a:pt x="20377" y="21296"/>
                  </a:cubicBezTo>
                  <a:cubicBezTo>
                    <a:pt x="20948" y="21495"/>
                    <a:pt x="21600" y="21246"/>
                    <a:pt x="21518" y="20848"/>
                  </a:cubicBezTo>
                  <a:cubicBezTo>
                    <a:pt x="21437" y="20549"/>
                    <a:pt x="21192" y="20201"/>
                    <a:pt x="20948" y="19902"/>
                  </a:cubicBezTo>
                  <a:cubicBezTo>
                    <a:pt x="12063" y="10546"/>
                    <a:pt x="12063" y="10546"/>
                    <a:pt x="12063" y="10546"/>
                  </a:cubicBezTo>
                  <a:cubicBezTo>
                    <a:pt x="3260" y="1239"/>
                    <a:pt x="3260" y="1239"/>
                    <a:pt x="3260" y="1239"/>
                  </a:cubicBezTo>
                  <a:cubicBezTo>
                    <a:pt x="2690" y="642"/>
                    <a:pt x="1875" y="243"/>
                    <a:pt x="978" y="44"/>
                  </a:cubicBezTo>
                  <a:cubicBezTo>
                    <a:pt x="489" y="-105"/>
                    <a:pt x="0" y="144"/>
                    <a:pt x="0" y="442"/>
                  </a:cubicBezTo>
                  <a:cubicBezTo>
                    <a:pt x="0" y="12835"/>
                    <a:pt x="0" y="12835"/>
                    <a:pt x="0" y="12835"/>
                  </a:cubicBezTo>
                  <a:cubicBezTo>
                    <a:pt x="0" y="13681"/>
                    <a:pt x="734" y="14477"/>
                    <a:pt x="1956" y="14925"/>
                  </a:cubicBezTo>
                  <a:close/>
                </a:path>
              </a:pathLst>
            </a:custGeom>
            <a:solidFill>
              <a:srgbClr val="D9B77A"/>
            </a:solidFill>
            <a:ln cap="flat" cmpd="sng" w="9525">
              <a:solidFill>
                <a:srgbClr val="7F7F7F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22850" lIns="22850" spcFirstLastPara="1" rIns="22850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>
              <a:off x="70733" y="3011158"/>
              <a:ext cx="5214515" cy="1750103"/>
            </a:xfrm>
            <a:custGeom>
              <a:rect b="b" l="l" r="r" t="t"/>
              <a:pathLst>
                <a:path extrusionOk="0" h="21359" w="21483">
                  <a:moveTo>
                    <a:pt x="9769" y="724"/>
                  </a:moveTo>
                  <a:cubicBezTo>
                    <a:pt x="192" y="16894"/>
                    <a:pt x="192" y="16894"/>
                    <a:pt x="192" y="16894"/>
                  </a:cubicBezTo>
                  <a:cubicBezTo>
                    <a:pt x="-12" y="17256"/>
                    <a:pt x="-53" y="17980"/>
                    <a:pt x="69" y="18463"/>
                  </a:cubicBezTo>
                  <a:cubicBezTo>
                    <a:pt x="436" y="20152"/>
                    <a:pt x="1088" y="21359"/>
                    <a:pt x="1903" y="21359"/>
                  </a:cubicBezTo>
                  <a:cubicBezTo>
                    <a:pt x="10747" y="21359"/>
                    <a:pt x="10747" y="21359"/>
                    <a:pt x="10747" y="21359"/>
                  </a:cubicBezTo>
                  <a:cubicBezTo>
                    <a:pt x="19591" y="21359"/>
                    <a:pt x="19591" y="21359"/>
                    <a:pt x="19591" y="21359"/>
                  </a:cubicBezTo>
                  <a:cubicBezTo>
                    <a:pt x="20365" y="21359"/>
                    <a:pt x="21017" y="20152"/>
                    <a:pt x="21425" y="18463"/>
                  </a:cubicBezTo>
                  <a:cubicBezTo>
                    <a:pt x="21547" y="17980"/>
                    <a:pt x="21465" y="17256"/>
                    <a:pt x="21302" y="16894"/>
                  </a:cubicBezTo>
                  <a:cubicBezTo>
                    <a:pt x="11725" y="724"/>
                    <a:pt x="11725" y="724"/>
                    <a:pt x="11725" y="724"/>
                  </a:cubicBezTo>
                  <a:cubicBezTo>
                    <a:pt x="11114" y="-241"/>
                    <a:pt x="10380" y="-241"/>
                    <a:pt x="9769" y="724"/>
                  </a:cubicBezTo>
                  <a:close/>
                </a:path>
              </a:pathLst>
            </a:custGeom>
            <a:solidFill>
              <a:srgbClr val="8EB4E3"/>
            </a:solidFill>
            <a:ln cap="flat" cmpd="sng" w="12700">
              <a:solidFill>
                <a:srgbClr val="7F7F7F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22850" lIns="22850" spcFirstLastPara="1" rIns="22850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0" y="0"/>
              <a:ext cx="2609045" cy="4241418"/>
            </a:xfrm>
            <a:custGeom>
              <a:rect b="b" l="l" r="r" t="t"/>
              <a:pathLst>
                <a:path extrusionOk="0" h="21366" w="21525">
                  <a:moveTo>
                    <a:pt x="21525" y="12835"/>
                  </a:moveTo>
                  <a:cubicBezTo>
                    <a:pt x="21525" y="442"/>
                    <a:pt x="21525" y="442"/>
                    <a:pt x="21525" y="442"/>
                  </a:cubicBezTo>
                  <a:cubicBezTo>
                    <a:pt x="21525" y="144"/>
                    <a:pt x="21036" y="-105"/>
                    <a:pt x="20547" y="44"/>
                  </a:cubicBezTo>
                  <a:cubicBezTo>
                    <a:pt x="19569" y="243"/>
                    <a:pt x="18754" y="642"/>
                    <a:pt x="18183" y="1239"/>
                  </a:cubicBezTo>
                  <a:cubicBezTo>
                    <a:pt x="9380" y="10546"/>
                    <a:pt x="9380" y="10546"/>
                    <a:pt x="9380" y="10546"/>
                  </a:cubicBezTo>
                  <a:cubicBezTo>
                    <a:pt x="577" y="19902"/>
                    <a:pt x="577" y="19902"/>
                    <a:pt x="577" y="19902"/>
                  </a:cubicBezTo>
                  <a:cubicBezTo>
                    <a:pt x="251" y="20201"/>
                    <a:pt x="88" y="20549"/>
                    <a:pt x="7" y="20848"/>
                  </a:cubicBezTo>
                  <a:cubicBezTo>
                    <a:pt x="-75" y="21246"/>
                    <a:pt x="577" y="21495"/>
                    <a:pt x="1148" y="21296"/>
                  </a:cubicBezTo>
                  <a:cubicBezTo>
                    <a:pt x="19569" y="14925"/>
                    <a:pt x="19569" y="14925"/>
                    <a:pt x="19569" y="14925"/>
                  </a:cubicBezTo>
                  <a:cubicBezTo>
                    <a:pt x="20791" y="14477"/>
                    <a:pt x="21525" y="13681"/>
                    <a:pt x="21525" y="12835"/>
                  </a:cubicBezTo>
                  <a:close/>
                </a:path>
              </a:pathLst>
            </a:custGeom>
            <a:solidFill>
              <a:srgbClr val="9AB5B2"/>
            </a:solidFill>
            <a:ln cap="flat" cmpd="sng" w="12700">
              <a:solidFill>
                <a:srgbClr val="7F7F7F"/>
              </a:solidFill>
              <a:prstDash val="solid"/>
              <a:miter lim="400000"/>
              <a:headEnd len="sm" w="sm" type="none"/>
              <a:tailEnd len="sm" w="sm" type="none"/>
            </a:ln>
          </p:spPr>
          <p:txBody>
            <a:bodyPr anchorCtr="0" anchor="t" bIns="22850" lIns="22850" spcFirstLastPara="1" rIns="22850" wrap="square" tIns="228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p17"/>
          <p:cNvSpPr txBox="1"/>
          <p:nvPr/>
        </p:nvSpPr>
        <p:spPr>
          <a:xfrm>
            <a:off x="2764863" y="3086624"/>
            <a:ext cx="1068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</a:t>
            </a:r>
            <a:endParaRPr sz="1100"/>
          </a:p>
        </p:txBody>
      </p:sp>
      <p:sp>
        <p:nvSpPr>
          <p:cNvPr id="135" name="Google Shape;135;p17"/>
          <p:cNvSpPr txBox="1"/>
          <p:nvPr/>
        </p:nvSpPr>
        <p:spPr>
          <a:xfrm>
            <a:off x="3258649" y="4075307"/>
            <a:ext cx="14700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SUND DATALAB</a:t>
            </a:r>
            <a:endParaRPr sz="1100"/>
          </a:p>
        </p:txBody>
      </p:sp>
      <p:sp>
        <p:nvSpPr>
          <p:cNvPr id="136" name="Google Shape;136;p17"/>
          <p:cNvSpPr txBox="1"/>
          <p:nvPr/>
        </p:nvSpPr>
        <p:spPr>
          <a:xfrm>
            <a:off x="4013615" y="3024624"/>
            <a:ext cx="13326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GROUPS</a:t>
            </a:r>
            <a:endParaRPr sz="1100"/>
          </a:p>
        </p:txBody>
      </p:sp>
      <p:cxnSp>
        <p:nvCxnSpPr>
          <p:cNvPr id="137" name="Google Shape;137;p17"/>
          <p:cNvCxnSpPr/>
          <p:nvPr/>
        </p:nvCxnSpPr>
        <p:spPr>
          <a:xfrm>
            <a:off x="952500" y="3472272"/>
            <a:ext cx="1601400" cy="0"/>
          </a:xfrm>
          <a:prstGeom prst="straightConnector1">
            <a:avLst/>
          </a:prstGeom>
          <a:noFill/>
          <a:ln cap="flat" cmpd="sng" w="57150">
            <a:solidFill>
              <a:srgbClr val="9AB5B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17"/>
          <p:cNvCxnSpPr/>
          <p:nvPr/>
        </p:nvCxnSpPr>
        <p:spPr>
          <a:xfrm>
            <a:off x="4949765" y="2601897"/>
            <a:ext cx="1565400" cy="0"/>
          </a:xfrm>
          <a:prstGeom prst="straightConnector1">
            <a:avLst/>
          </a:prstGeom>
          <a:noFill/>
          <a:ln cap="flat" cmpd="sng" w="57150">
            <a:solidFill>
              <a:srgbClr val="D9B7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7"/>
          <p:cNvCxnSpPr/>
          <p:nvPr/>
        </p:nvCxnSpPr>
        <p:spPr>
          <a:xfrm>
            <a:off x="5600700" y="4781550"/>
            <a:ext cx="1562100" cy="0"/>
          </a:xfrm>
          <a:prstGeom prst="straightConnector1">
            <a:avLst/>
          </a:prstGeom>
          <a:noFill/>
          <a:ln cap="flat" cmpd="sng" w="57150">
            <a:solidFill>
              <a:srgbClr val="8EB4E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this course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this course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729450" y="1297975"/>
            <a:ext cx="68130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Originally developed at the Center for Protein Research (CPR) by: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Alberto Santos Delgardo (University of Oxford)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Henry Webel (NNF CPR)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Annelaura Bach Nielsen (NNF CPR)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Rita Colaço (PRI)</a:t>
            </a:r>
            <a:endParaRPr sz="17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/>
              <a:t>We say thank you for the course material which we have adapted.</a:t>
            </a:r>
            <a:endParaRPr sz="1700"/>
          </a:p>
        </p:txBody>
      </p: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2500" y="180742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this course</a:t>
            </a:r>
            <a:endParaRPr/>
          </a:p>
        </p:txBody>
      </p:sp>
      <p:sp>
        <p:nvSpPr>
          <p:cNvPr id="157" name="Google Shape;157;p20"/>
          <p:cNvSpPr txBox="1"/>
          <p:nvPr>
            <p:ph idx="1" type="body"/>
          </p:nvPr>
        </p:nvSpPr>
        <p:spPr>
          <a:xfrm>
            <a:off x="729450" y="1145575"/>
            <a:ext cx="3101700" cy="34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Your teachers:</a:t>
            </a:r>
            <a:endParaRPr sz="2000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Thilde Terkelsen</a:t>
            </a:r>
            <a:r>
              <a:rPr lang="en-GB"/>
              <a:t> (HeaDS)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Rita Colaço (PRI)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Valentina Sora (HeaDS)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Henrike Zschach (HeaDS)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Inigo Prada Luengo (HeaDS)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0573" y="3308750"/>
            <a:ext cx="1115750" cy="11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1700" y="1949618"/>
            <a:ext cx="1115750" cy="1175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0358" y="3315950"/>
            <a:ext cx="1070092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0" title="ScheelWegener_1100x600_Site_crop.png"/>
          <p:cNvPicPr preferRelativeResize="0"/>
          <p:nvPr/>
        </p:nvPicPr>
        <p:blipFill rotWithShape="1">
          <a:blip r:embed="rId6">
            <a:alphaModFix/>
          </a:blip>
          <a:srcRect b="0" l="32770" r="13428" t="0"/>
          <a:stretch/>
        </p:blipFill>
        <p:spPr>
          <a:xfrm>
            <a:off x="5216150" y="1921675"/>
            <a:ext cx="1214301" cy="123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0" title="AFB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7875" y="3345700"/>
            <a:ext cx="1115750" cy="111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this course</a:t>
            </a:r>
            <a:endParaRPr/>
          </a:p>
        </p:txBody>
      </p:sp>
      <p:pic>
        <p:nvPicPr>
          <p:cNvPr id="168" name="Google Shape;1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900" y="1105575"/>
            <a:ext cx="4313950" cy="377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Python?</a:t>
            </a:r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729450" y="1297975"/>
            <a:ext cx="7688700" cy="33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Python is a great programming language for both beginners and advanced programmers: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Easy to grasp, close to natural language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Many learning resources available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Large</a:t>
            </a:r>
            <a:r>
              <a:rPr lang="en-GB" sz="1700"/>
              <a:t> community (i.e. stackoverflow for questions)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Libraries 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Can do very advanced things like neural networks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to get help</a:t>
            </a:r>
            <a:endParaRPr/>
          </a:p>
        </p:txBody>
      </p:sp>
      <p:sp>
        <p:nvSpPr>
          <p:cNvPr id="185" name="Google Shape;185;p24"/>
          <p:cNvSpPr txBox="1"/>
          <p:nvPr>
            <p:ph idx="1" type="body"/>
          </p:nvPr>
        </p:nvSpPr>
        <p:spPr>
          <a:xfrm>
            <a:off x="570100" y="1129775"/>
            <a:ext cx="7362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Online communities such as stackoverflow are an important tool in programming.</a:t>
            </a:r>
            <a:endParaRPr sz="1700"/>
          </a:p>
        </p:txBody>
      </p:sp>
      <p:pic>
        <p:nvPicPr>
          <p:cNvPr id="186" name="Google Shape;186;p24"/>
          <p:cNvPicPr preferRelativeResize="0"/>
          <p:nvPr/>
        </p:nvPicPr>
        <p:blipFill rotWithShape="1">
          <a:blip r:embed="rId3">
            <a:alphaModFix/>
          </a:blip>
          <a:srcRect b="48667" l="0" r="0" t="0"/>
          <a:stretch/>
        </p:blipFill>
        <p:spPr>
          <a:xfrm>
            <a:off x="327575" y="1574275"/>
            <a:ext cx="8277401" cy="19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700825" y="3978450"/>
            <a:ext cx="7362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600"/>
              <a:t>You can also ask chatGPT, but remember to verify the answer!</a:t>
            </a:r>
            <a:endParaRPr sz="1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environments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Jupyter notebook</a:t>
            </a:r>
            <a:endParaRPr/>
          </a:p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1505550" y="1052950"/>
            <a:ext cx="6804600" cy="10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545"/>
              <a:t>The Jupyter Notebook is an </a:t>
            </a:r>
            <a:r>
              <a:rPr b="1" lang="en-GB" sz="1545"/>
              <a:t>open-source application</a:t>
            </a:r>
            <a:r>
              <a:rPr lang="en-GB" sz="1545"/>
              <a:t> to create and share documents that contain code, equations, visualizations and text (markdown).</a:t>
            </a:r>
            <a:endParaRPr sz="1545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  <p:sp>
        <p:nvSpPr>
          <p:cNvPr id="199" name="Google Shape;199;p26"/>
          <p:cNvSpPr txBox="1"/>
          <p:nvPr/>
        </p:nvSpPr>
        <p:spPr>
          <a:xfrm>
            <a:off x="804425" y="1918850"/>
            <a:ext cx="332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4885650" y="2000025"/>
            <a:ext cx="34245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Browser-based development environment for creating, running and sharing Python code</a:t>
            </a:r>
            <a:b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Combine code with text and output</a:t>
            </a:r>
            <a:b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Runs from your </a:t>
            </a: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local installation</a:t>
            </a: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. I.e., you need Python and the libraries you want to use installed on your computer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1" name="Google Shape;2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850" y="1636450"/>
            <a:ext cx="3641000" cy="293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475" y="1052950"/>
            <a:ext cx="989076" cy="1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7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Google Colab</a:t>
            </a:r>
            <a:endParaRPr/>
          </a:p>
        </p:txBody>
      </p:sp>
      <p:sp>
        <p:nvSpPr>
          <p:cNvPr id="208" name="Google Shape;208;p27"/>
          <p:cNvSpPr txBox="1"/>
          <p:nvPr>
            <p:ph idx="1" type="body"/>
          </p:nvPr>
        </p:nvSpPr>
        <p:spPr>
          <a:xfrm>
            <a:off x="2441650" y="1040600"/>
            <a:ext cx="5462400" cy="3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Google Colab is a Jupyter Notebook hosted on Google’s servers, not your own machine. It still runs in your browser.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tool to write, execute and share Python code through the browser</a:t>
            </a:r>
            <a:br>
              <a:rPr lang="en-GB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requires no setup to use and provides free access to computing resources </a:t>
            </a:r>
            <a:r>
              <a:rPr lang="en-GB" sz="1500"/>
              <a:t>on Google’s servers </a:t>
            </a:r>
            <a:r>
              <a:rPr lang="en-GB" sz="1500"/>
              <a:t>including GPUs</a:t>
            </a:r>
            <a:br>
              <a:rPr lang="en-GB" sz="1500"/>
            </a:br>
            <a:r>
              <a:rPr lang="en-GB" sz="1500"/>
              <a:t>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is connected to a Google account and data and notebooks can be accessed through Google Drive.</a:t>
            </a:r>
            <a:endParaRPr sz="1500"/>
          </a:p>
        </p:txBody>
      </p:sp>
      <p:pic>
        <p:nvPicPr>
          <p:cNvPr id="209" name="Google Shape;20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00" y="953100"/>
            <a:ext cx="2054301" cy="908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781650" y="4138525"/>
            <a:ext cx="597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We’ll use Colab during the course. </a:t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/>
          <p:nvPr>
            <p:ph type="title"/>
          </p:nvPr>
        </p:nvSpPr>
        <p:spPr>
          <a:xfrm>
            <a:off x="594450" y="1743550"/>
            <a:ext cx="76884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libraries/packages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729450" y="1297975"/>
            <a:ext cx="7688700" cy="3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Python has many libraries, also called packages, that other programmers have developed. Find and </a:t>
            </a:r>
            <a:r>
              <a:rPr b="1" lang="en-GB" sz="1700"/>
              <a:t>u</a:t>
            </a:r>
            <a:r>
              <a:rPr b="1" lang="en-GB" sz="1700"/>
              <a:t>se</a:t>
            </a:r>
            <a:r>
              <a:rPr lang="en-GB" sz="1700"/>
              <a:t> them!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Well-maintained libraries generally are: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Tested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Optimized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Documented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There is no need to reinvent the wheel. During this course we will use: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Pandas (all the data analysis!)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Math (basic math)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Plotly express (visualization)</a:t>
            </a:r>
            <a:endParaRPr sz="1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Libraries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729450" y="1297975"/>
            <a:ext cx="7324200" cy="33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/>
              <a:t>If you are running Python from a local installation, you need to have libraries </a:t>
            </a:r>
            <a:r>
              <a:rPr b="1" lang="en-GB" sz="1700"/>
              <a:t>installed</a:t>
            </a:r>
            <a:r>
              <a:rPr lang="en-GB" sz="1700"/>
              <a:t> before you can use them.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/>
              <a:t>On Google Colab you can generally just import, they are already installed.</a:t>
            </a:r>
            <a:endParaRPr sz="17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Import the math library:</a:t>
            </a:r>
            <a:endParaRPr sz="15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import math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Now I can use functions from that library, i.e. calculating the logarithm or square root:</a:t>
            </a:r>
            <a:endParaRPr sz="15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math.log(3)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>
                <a:latin typeface="Courier New"/>
                <a:ea typeface="Courier New"/>
                <a:cs typeface="Courier New"/>
                <a:sym typeface="Courier New"/>
              </a:rPr>
              <a:t>math.sqrt(4)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material</a:t>
            </a:r>
            <a:endParaRPr/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830475"/>
            <a:ext cx="6594224" cy="362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/>
          <p:cNvSpPr txBox="1"/>
          <p:nvPr>
            <p:ph idx="1" type="body"/>
          </p:nvPr>
        </p:nvSpPr>
        <p:spPr>
          <a:xfrm>
            <a:off x="345600" y="1625975"/>
            <a:ext cx="27111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You can find the course material here: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00" u="sng">
                <a:solidFill>
                  <a:schemeClr val="hlink"/>
                </a:solidFill>
                <a:hlinkClick r:id="rId4"/>
              </a:rPr>
              <a:t>https://github.com/Center-for-Health-Data-Science/PythonTsunami</a:t>
            </a:r>
            <a:r>
              <a:rPr lang="en-GB" sz="1500"/>
              <a:t> </a:t>
            </a:r>
            <a:endParaRPr sz="1500"/>
          </a:p>
        </p:txBody>
      </p:sp>
      <p:sp>
        <p:nvSpPr>
          <p:cNvPr id="235" name="Google Shape;235;p31"/>
          <p:cNvSpPr/>
          <p:nvPr/>
        </p:nvSpPr>
        <p:spPr>
          <a:xfrm>
            <a:off x="3517400" y="4187375"/>
            <a:ext cx="5005500" cy="314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31"/>
          <p:cNvCxnSpPr/>
          <p:nvPr/>
        </p:nvCxnSpPr>
        <p:spPr>
          <a:xfrm flipH="1" rot="10800000">
            <a:off x="2854400" y="4466475"/>
            <a:ext cx="5862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31"/>
          <p:cNvCxnSpPr/>
          <p:nvPr/>
        </p:nvCxnSpPr>
        <p:spPr>
          <a:xfrm>
            <a:off x="3252200" y="4368825"/>
            <a:ext cx="181500" cy="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31"/>
          <p:cNvCxnSpPr/>
          <p:nvPr/>
        </p:nvCxnSpPr>
        <p:spPr>
          <a:xfrm flipH="1">
            <a:off x="3419625" y="4480500"/>
            <a:ext cx="210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material</a:t>
            </a:r>
            <a:endParaRPr/>
          </a:p>
        </p:txBody>
      </p:sp>
      <p:pic>
        <p:nvPicPr>
          <p:cNvPr id="244" name="Google Shape;2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6100" y="927850"/>
            <a:ext cx="6143049" cy="38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2"/>
          <p:cNvSpPr/>
          <p:nvPr/>
        </p:nvSpPr>
        <p:spPr>
          <a:xfrm>
            <a:off x="2749725" y="4333950"/>
            <a:ext cx="642000" cy="209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32"/>
          <p:cNvCxnSpPr/>
          <p:nvPr/>
        </p:nvCxnSpPr>
        <p:spPr>
          <a:xfrm flipH="1" rot="10800000">
            <a:off x="2092400" y="4618875"/>
            <a:ext cx="5862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32"/>
          <p:cNvCxnSpPr/>
          <p:nvPr/>
        </p:nvCxnSpPr>
        <p:spPr>
          <a:xfrm>
            <a:off x="2490200" y="4521225"/>
            <a:ext cx="181500" cy="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32"/>
          <p:cNvCxnSpPr/>
          <p:nvPr/>
        </p:nvCxnSpPr>
        <p:spPr>
          <a:xfrm flipH="1">
            <a:off x="2657625" y="4632900"/>
            <a:ext cx="210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Course material</a:t>
            </a:r>
            <a:endParaRPr/>
          </a:p>
        </p:txBody>
      </p:sp>
      <p:sp>
        <p:nvSpPr>
          <p:cNvPr id="254" name="Google Shape;254;p33"/>
          <p:cNvSpPr txBox="1"/>
          <p:nvPr>
            <p:ph idx="1" type="body"/>
          </p:nvPr>
        </p:nvSpPr>
        <p:spPr>
          <a:xfrm>
            <a:off x="460750" y="1050750"/>
            <a:ext cx="41733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Remember to </a:t>
            </a:r>
            <a:r>
              <a:rPr b="1" lang="en-GB"/>
              <a:t>save a copy</a:t>
            </a:r>
            <a:r>
              <a:rPr lang="en-GB"/>
              <a:t> to your own google drive so you can save your notes and exercises!</a:t>
            </a:r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>
            <a:alphaModFix/>
          </a:blip>
          <a:srcRect b="18837" l="0" r="0" t="0"/>
          <a:stretch/>
        </p:blipFill>
        <p:spPr>
          <a:xfrm>
            <a:off x="1481825" y="2059400"/>
            <a:ext cx="6180351" cy="2172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3"/>
          <p:cNvSpPr/>
          <p:nvPr/>
        </p:nvSpPr>
        <p:spPr>
          <a:xfrm>
            <a:off x="2655425" y="2441500"/>
            <a:ext cx="753600" cy="251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7" name="Google Shape;257;p33"/>
          <p:cNvCxnSpPr/>
          <p:nvPr/>
        </p:nvCxnSpPr>
        <p:spPr>
          <a:xfrm flipH="1" rot="10800000">
            <a:off x="2027325" y="2734550"/>
            <a:ext cx="5862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33"/>
          <p:cNvCxnSpPr/>
          <p:nvPr/>
        </p:nvCxnSpPr>
        <p:spPr>
          <a:xfrm>
            <a:off x="2425125" y="2636900"/>
            <a:ext cx="181500" cy="9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33"/>
          <p:cNvCxnSpPr/>
          <p:nvPr/>
        </p:nvCxnSpPr>
        <p:spPr>
          <a:xfrm flipH="1">
            <a:off x="2592550" y="2748575"/>
            <a:ext cx="21000" cy="20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4"/>
          <p:cNvSpPr txBox="1"/>
          <p:nvPr>
            <p:ph type="title"/>
          </p:nvPr>
        </p:nvSpPr>
        <p:spPr>
          <a:xfrm>
            <a:off x="460750" y="-237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Short Introduction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729450" y="1297975"/>
            <a:ext cx="7688700" cy="30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Take the next 5 mins to introduce yourself at your table:</a:t>
            </a:r>
            <a:endParaRPr sz="2000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Name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Position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Unit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What you do (very briefly!)</a:t>
            </a:r>
            <a:endParaRPr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6E6E6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
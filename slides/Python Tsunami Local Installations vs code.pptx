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Helvetica Neue" panose="02000503000000020004" pitchFamily="2" charset="0"/>
      <p:regular r:id="rId14"/>
      <p:bold r:id="rId15"/>
      <p:italic r:id="rId16"/>
      <p:boldItalic r:id="rId17"/>
    </p:embeddedFont>
    <p:embeddedFont>
      <p:font typeface="Lato" panose="020F0502020204030203" pitchFamily="34" charset="77"/>
      <p:regular r:id="rId18"/>
      <p:bold r:id="rId19"/>
      <p:italic r:id="rId20"/>
      <p:boldItalic r:id="rId21"/>
    </p:embeddedFont>
    <p:embeddedFont>
      <p:font typeface="Raleway" pitchFamily="2" charset="77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7"/>
    <p:restoredTop sz="94595"/>
  </p:normalViewPr>
  <p:slideViewPr>
    <p:cSldViewPr snapToGrid="0">
      <p:cViewPr>
        <p:scale>
          <a:sx n="94" d="100"/>
          <a:sy n="94" d="100"/>
        </p:scale>
        <p:origin x="1200" y="11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1244962144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1244962144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244962144d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244962144d_0_3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226e6258e1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226e6258e1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2ffdf2aa0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2ffdf2aa0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226e6258e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2226e6258e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226e6258e1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226e6258e1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fdf2aa039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2ffdf2aa039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1244962144d_0_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1244962144d_0_3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ffdf2aa039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2ffdf2aa039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244962144d_0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244962144d_0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561692" y="882218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7950" y="168350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/>
          <p:nvPr/>
        </p:nvSpPr>
        <p:spPr>
          <a:xfrm>
            <a:off x="780900" y="1686025"/>
            <a:ext cx="7179300" cy="8943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" name="Google Shape;20;p3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21" name="Google Shape;21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94450" y="1743550"/>
            <a:ext cx="7688400" cy="8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3600"/>
              <a:buNone/>
              <a:defRPr sz="3600">
                <a:solidFill>
                  <a:srgbClr val="43434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5" name="Google Shape;2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1297975"/>
            <a:ext cx="76887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31" name="Google Shape;31;p4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32" name="Google Shape;32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4" name="Google Shape;34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29325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4643601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41" name="Google Shape;41;p5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42" name="Google Shape;42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pic>
        <p:nvPicPr>
          <p:cNvPr id="45" name="Google Shape;4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49" name="Google Shape;49;p6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50" name="Google Shape;50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6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pic>
        <p:nvPicPr>
          <p:cNvPr id="54" name="Google Shape;5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58" name="Google Shape;58;p7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59" name="Google Shape;59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" name="Google Shape;61;p7"/>
          <p:cNvSpPr/>
          <p:nvPr/>
        </p:nvSpPr>
        <p:spPr>
          <a:xfrm>
            <a:off x="0" y="0"/>
            <a:ext cx="9144000" cy="663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729325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64" name="Google Shape;6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oogle Shape;6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7" name="Google Shape;6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" name="Google Shape;6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0" name="Google Shape;7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title"/>
          </p:nvPr>
        </p:nvSpPr>
        <p:spPr>
          <a:xfrm>
            <a:off x="486125" y="1133925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subTitle" idx="1"/>
          </p:nvPr>
        </p:nvSpPr>
        <p:spPr>
          <a:xfrm>
            <a:off x="1169975" y="225467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grpSp>
        <p:nvGrpSpPr>
          <p:cNvPr id="76" name="Google Shape;76;p9"/>
          <p:cNvGrpSpPr/>
          <p:nvPr/>
        </p:nvGrpSpPr>
        <p:grpSpPr>
          <a:xfrm>
            <a:off x="562317" y="881818"/>
            <a:ext cx="745763" cy="45826"/>
            <a:chOff x="4580561" y="2589004"/>
            <a:chExt cx="1064464" cy="25200"/>
          </a:xfrm>
        </p:grpSpPr>
        <p:sp>
          <p:nvSpPr>
            <p:cNvPr id="77" name="Google Shape;77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9"/>
          <p:cNvSpPr txBox="1">
            <a:spLocks noGrp="1"/>
          </p:cNvSpPr>
          <p:nvPr>
            <p:ph type="body" idx="2"/>
          </p:nvPr>
        </p:nvSpPr>
        <p:spPr>
          <a:xfrm>
            <a:off x="4643601" y="1297975"/>
            <a:ext cx="3774300" cy="30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rtl="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rtl="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rtl="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pic>
        <p:nvPicPr>
          <p:cNvPr id="80" name="Google Shape;80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62550" y="58775"/>
            <a:ext cx="1322450" cy="13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86" name="Google Shape;86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" name="Google Shape;88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python.org/downloads/windows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hills with a blue sky&#10;&#10;AI-generated content may be incorrect.">
            <a:extLst>
              <a:ext uri="{FF2B5EF4-FFF2-40B4-BE49-F238E27FC236}">
                <a16:creationId xmlns:a16="http://schemas.microsoft.com/office/drawing/2014/main" id="{184A8A15-966E-0106-10AF-4F1334C73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5" y="0"/>
            <a:ext cx="9119412" cy="5143500"/>
          </a:xfrm>
          <a:prstGeom prst="rect">
            <a:avLst/>
          </a:prstGeom>
        </p:spPr>
      </p:pic>
      <p:sp>
        <p:nvSpPr>
          <p:cNvPr id="103" name="Google Shape;103;p14"/>
          <p:cNvSpPr txBox="1">
            <a:spLocks noGrp="1"/>
          </p:cNvSpPr>
          <p:nvPr>
            <p:ph type="ctrTitle"/>
          </p:nvPr>
        </p:nvSpPr>
        <p:spPr>
          <a:xfrm>
            <a:off x="2243622" y="1872224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Python Tsunami</a:t>
            </a:r>
            <a:endParaRPr dirty="0"/>
          </a:p>
        </p:txBody>
      </p:sp>
      <p:sp>
        <p:nvSpPr>
          <p:cNvPr id="104" name="Google Shape;104;p14"/>
          <p:cNvSpPr txBox="1">
            <a:spLocks noGrp="1"/>
          </p:cNvSpPr>
          <p:nvPr>
            <p:ph type="subTitle" idx="1"/>
          </p:nvPr>
        </p:nvSpPr>
        <p:spPr>
          <a:xfrm>
            <a:off x="1677604" y="2787701"/>
            <a:ext cx="5222774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tx2">
                    <a:lumMod val="10000"/>
                  </a:schemeClr>
                </a:solidFill>
              </a:rPr>
              <a:t>Local Installation</a:t>
            </a:r>
            <a:endParaRPr sz="1800" dirty="0">
              <a:solidFill>
                <a:schemeClr val="tx2">
                  <a:lumMod val="1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 txBox="1"/>
          <p:nvPr/>
        </p:nvSpPr>
        <p:spPr>
          <a:xfrm>
            <a:off x="729450" y="1069375"/>
            <a:ext cx="7049100" cy="11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2100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 Studio Code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45345" y="1261105"/>
            <a:ext cx="5971585" cy="3031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0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Free + Open source solution from Microsoft (there are others)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Many programming languages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Github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integration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387350" lvl="0" indent="-2857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Easy to install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20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5697900" y="4309425"/>
            <a:ext cx="3216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https://code.visualstudio.com/</a:t>
            </a:r>
            <a:endParaRPr/>
          </a:p>
        </p:txBody>
      </p:sp>
      <p:pic>
        <p:nvPicPr>
          <p:cNvPr id="107" name="Google Shape;10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20225" y="2709950"/>
            <a:ext cx="1610166" cy="159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2816275" y="2091125"/>
            <a:ext cx="4605900" cy="29535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Visual Studio Code</a:t>
            </a:r>
            <a:endParaRPr/>
          </a:p>
        </p:txBody>
      </p:sp>
      <p:pic>
        <p:nvPicPr>
          <p:cNvPr id="114" name="Google Shape;11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7897" y="2182150"/>
            <a:ext cx="6574277" cy="2182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839584" y="1311619"/>
            <a:ext cx="6469410" cy="5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Disable telemetry if you would not like Microsoft collecting your data!</a:t>
            </a:r>
            <a:endParaRPr sz="16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024100"/>
            <a:ext cx="6604423" cy="3966999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Start up</a:t>
            </a:r>
            <a:endParaRPr dirty="0"/>
          </a:p>
        </p:txBody>
      </p:sp>
      <p:sp>
        <p:nvSpPr>
          <p:cNvPr id="122" name="Google Shape;122;p16"/>
          <p:cNvSpPr/>
          <p:nvPr/>
        </p:nvSpPr>
        <p:spPr>
          <a:xfrm>
            <a:off x="5215550" y="2487375"/>
            <a:ext cx="2263200" cy="10467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5409105" y="2263988"/>
            <a:ext cx="2812182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Lato"/>
                <a:ea typeface="Lato"/>
                <a:cs typeface="Lato"/>
                <a:sym typeface="Lato"/>
              </a:rPr>
              <a:t>When you open a python script it will help you find an interpreter</a:t>
            </a:r>
            <a:endParaRPr dirty="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 python</a:t>
            </a:r>
            <a:endParaRPr/>
          </a:p>
        </p:txBody>
      </p:sp>
      <p:pic>
        <p:nvPicPr>
          <p:cNvPr id="129" name="Google Shape;129;p17"/>
          <p:cNvPicPr preferRelativeResize="0"/>
          <p:nvPr/>
        </p:nvPicPr>
        <p:blipFill rotWithShape="1">
          <a:blip r:embed="rId3">
            <a:alphaModFix/>
          </a:blip>
          <a:srcRect b="55474"/>
          <a:stretch/>
        </p:blipFill>
        <p:spPr>
          <a:xfrm>
            <a:off x="565723" y="1404193"/>
            <a:ext cx="7478754" cy="2090732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/>
          <p:nvPr/>
        </p:nvSpPr>
        <p:spPr>
          <a:xfrm>
            <a:off x="2444510" y="2041572"/>
            <a:ext cx="1196100" cy="324900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565723" y="3639554"/>
            <a:ext cx="76887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Windows: Microsoft Store or global install </a:t>
            </a:r>
            <a:r>
              <a:rPr lang="en-GB" sz="1200" u="sng" dirty="0">
                <a:solidFill>
                  <a:schemeClr val="hlink"/>
                </a:solidFill>
                <a:latin typeface="Lato"/>
                <a:ea typeface="Lato"/>
                <a:cs typeface="Lato"/>
                <a:sym typeface="Lato"/>
                <a:hlinkClick r:id="rId4"/>
              </a:rPr>
              <a:t>https://www.python.org/downloads/windows/</a:t>
            </a: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Mac: App Store or command line</a:t>
            </a:r>
            <a:endParaRPr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Linux systems: Command line</a:t>
            </a:r>
            <a:endParaRPr sz="12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 python</a:t>
            </a:r>
            <a:endParaRPr/>
          </a:p>
        </p:txBody>
      </p:sp>
      <p:pic>
        <p:nvPicPr>
          <p:cNvPr id="137" name="Google Shape;137;p18"/>
          <p:cNvPicPr preferRelativeResize="0"/>
          <p:nvPr/>
        </p:nvPicPr>
        <p:blipFill rotWithShape="1">
          <a:blip r:embed="rId3">
            <a:alphaModFix/>
          </a:blip>
          <a:srcRect r="19923"/>
          <a:stretch>
            <a:fillRect/>
          </a:stretch>
        </p:blipFill>
        <p:spPr>
          <a:xfrm>
            <a:off x="1031625" y="1247850"/>
            <a:ext cx="4375262" cy="341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/>
          <p:nvPr/>
        </p:nvSpPr>
        <p:spPr>
          <a:xfrm>
            <a:off x="963098" y="2233350"/>
            <a:ext cx="324900" cy="327900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 txBox="1"/>
          <p:nvPr/>
        </p:nvSpPr>
        <p:spPr>
          <a:xfrm>
            <a:off x="5705934" y="1406116"/>
            <a:ext cx="2632996" cy="1982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OR check ‘extensions’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As you can see, I also got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Jupyter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ect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because I opened an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ipython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notebook.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Jupyter</a:t>
            </a:r>
            <a:endParaRPr/>
          </a:p>
        </p:txBody>
      </p:sp>
      <p:sp>
        <p:nvSpPr>
          <p:cNvPr id="145" name="Google Shape;145;p19"/>
          <p:cNvSpPr txBox="1"/>
          <p:nvPr/>
        </p:nvSpPr>
        <p:spPr>
          <a:xfrm>
            <a:off x="6224953" y="1824594"/>
            <a:ext cx="2617200" cy="2262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Operate as in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colab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12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Code cells and text cells</a:t>
            </a:r>
            <a:b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</a:b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12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Run cells with run button or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shift+enter</a:t>
            </a:r>
            <a:b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</a:b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412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Output appears below cell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6" name="Google Shape;14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9707" y="1331844"/>
            <a:ext cx="5625246" cy="343569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9"/>
          <p:cNvSpPr txBox="1"/>
          <p:nvPr/>
        </p:nvSpPr>
        <p:spPr>
          <a:xfrm>
            <a:off x="2457769" y="839094"/>
            <a:ext cx="44721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VS code can open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ipython</a:t>
            </a: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notebooks: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9789" y="1053549"/>
            <a:ext cx="6154741" cy="376693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Github integration</a:t>
            </a:r>
            <a:endParaRPr/>
          </a:p>
        </p:txBody>
      </p:sp>
      <p:sp>
        <p:nvSpPr>
          <p:cNvPr id="154" name="Google Shape;154;p20"/>
          <p:cNvSpPr/>
          <p:nvPr/>
        </p:nvSpPr>
        <p:spPr>
          <a:xfrm>
            <a:off x="1912009" y="2845149"/>
            <a:ext cx="1066200" cy="226042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>
            <a:spLocks noGrp="1"/>
          </p:cNvSpPr>
          <p:nvPr>
            <p:ph type="title"/>
          </p:nvPr>
        </p:nvSpPr>
        <p:spPr>
          <a:xfrm>
            <a:off x="460750" y="-237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Packages</a:t>
            </a:r>
            <a:endParaRPr/>
          </a:p>
        </p:txBody>
      </p:sp>
      <p:sp>
        <p:nvSpPr>
          <p:cNvPr id="160" name="Google Shape;160;p21"/>
          <p:cNvSpPr txBox="1">
            <a:spLocks noGrp="1"/>
          </p:cNvSpPr>
          <p:nvPr>
            <p:ph type="body" idx="1"/>
          </p:nvPr>
        </p:nvSpPr>
        <p:spPr>
          <a:xfrm>
            <a:off x="565675" y="1243382"/>
            <a:ext cx="4866132" cy="348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/>
              <a:t>Packages are also called libraries. 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500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/>
              <a:t>They are bundles of code that contain a certain functionality.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GB"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 dirty="0"/>
              <a:t>You have already used packages: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 b="1" dirty="0">
                <a:latin typeface="Courier New"/>
                <a:ea typeface="Courier New"/>
                <a:cs typeface="Courier New"/>
                <a:sym typeface="Courier New"/>
              </a:rPr>
              <a:t>import pandas as pd</a:t>
            </a:r>
            <a:endParaRPr sz="15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500" b="1" dirty="0">
                <a:latin typeface="Courier New"/>
                <a:ea typeface="Courier New"/>
                <a:cs typeface="Courier New"/>
                <a:sym typeface="Courier New"/>
              </a:rPr>
              <a:t>import </a:t>
            </a:r>
            <a:r>
              <a:rPr lang="en-GB" sz="1500" b="1" dirty="0" err="1">
                <a:latin typeface="Courier New"/>
                <a:ea typeface="Courier New"/>
                <a:cs typeface="Courier New"/>
                <a:sym typeface="Courier New"/>
              </a:rPr>
              <a:t>plotly.express</a:t>
            </a:r>
            <a:r>
              <a:rPr lang="en-GB" sz="1500" b="1" dirty="0">
                <a:latin typeface="Courier New"/>
                <a:ea typeface="Courier New"/>
                <a:cs typeface="Courier New"/>
                <a:sym typeface="Courier New"/>
              </a:rPr>
              <a:t> as </a:t>
            </a:r>
            <a:r>
              <a:rPr lang="en-GB" sz="1500" b="1" dirty="0" err="1">
                <a:latin typeface="Courier New"/>
                <a:ea typeface="Courier New"/>
                <a:cs typeface="Courier New"/>
                <a:sym typeface="Courier New"/>
              </a:rPr>
              <a:t>px</a:t>
            </a:r>
            <a:endParaRPr sz="15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500" dirty="0"/>
              <a:t>You’ll need to have a local install of the package before you can load and use it.</a:t>
            </a:r>
            <a:endParaRPr sz="15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" name="Picture 2" descr="A circular object with many icons&#10;&#10;AI-generated content may be incorrect.">
            <a:extLst>
              <a:ext uri="{FF2B5EF4-FFF2-40B4-BE49-F238E27FC236}">
                <a16:creationId xmlns:a16="http://schemas.microsoft.com/office/drawing/2014/main" id="{B22E7592-BF48-DA27-2484-2A7A02C314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316" r="12664"/>
          <a:stretch>
            <a:fillRect/>
          </a:stretch>
        </p:blipFill>
        <p:spPr>
          <a:xfrm>
            <a:off x="5636525" y="1344038"/>
            <a:ext cx="3047769" cy="30648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2"/>
          <p:cNvSpPr txBox="1">
            <a:spLocks noGrp="1"/>
          </p:cNvSpPr>
          <p:nvPr>
            <p:ph type="title"/>
          </p:nvPr>
        </p:nvSpPr>
        <p:spPr>
          <a:xfrm>
            <a:off x="460750" y="525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Installing packages</a:t>
            </a:r>
            <a:endParaRPr/>
          </a:p>
        </p:txBody>
      </p:sp>
      <p:pic>
        <p:nvPicPr>
          <p:cNvPr id="166" name="Google Shape;16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538" y="1624469"/>
            <a:ext cx="3989600" cy="240447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2"/>
          <p:cNvSpPr txBox="1"/>
          <p:nvPr/>
        </p:nvSpPr>
        <p:spPr>
          <a:xfrm>
            <a:off x="2124550" y="707150"/>
            <a:ext cx="50676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Now how do you get packages installed?</a:t>
            </a:r>
            <a:endParaRPr sz="1500" b="1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8" name="Google Shape;168;p22"/>
          <p:cNvSpPr txBox="1"/>
          <p:nvPr/>
        </p:nvSpPr>
        <p:spPr>
          <a:xfrm>
            <a:off x="707225" y="1227932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Option 1: Pip + any bash terminal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653875" y="40404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(Shown Gitbash on Windows)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MacOS has native bash terminal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0" name="Google Shape;170;p22"/>
          <p:cNvSpPr txBox="1"/>
          <p:nvPr/>
        </p:nvSpPr>
        <p:spPr>
          <a:xfrm>
            <a:off x="5085087" y="1227932"/>
            <a:ext cx="3442500" cy="1302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Option 2: Pip in </a:t>
            </a:r>
            <a:r>
              <a:rPr lang="en-GB" sz="1500" dirty="0" err="1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powershell</a:t>
            </a:r>
            <a:endParaRPr sz="1500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1" name="Google Shape;17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3420" y="1624469"/>
            <a:ext cx="3989601" cy="231129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2"/>
          <p:cNvSpPr txBox="1"/>
          <p:nvPr/>
        </p:nvSpPr>
        <p:spPr>
          <a:xfrm>
            <a:off x="5007700" y="4040400"/>
            <a:ext cx="3442500" cy="9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Native Windows terminal</a:t>
            </a:r>
            <a:endParaRPr sz="10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3" name="Google Shape;173;p22"/>
          <p:cNvSpPr txBox="1"/>
          <p:nvPr/>
        </p:nvSpPr>
        <p:spPr>
          <a:xfrm>
            <a:off x="2240370" y="4555800"/>
            <a:ext cx="51861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Some systems have pip3 instead of pip.</a:t>
            </a:r>
            <a:endParaRPr sz="1500" b="1" dirty="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 txBox="1">
            <a:spLocks noGrp="1"/>
          </p:cNvSpPr>
          <p:nvPr>
            <p:ph type="title"/>
          </p:nvPr>
        </p:nvSpPr>
        <p:spPr>
          <a:xfrm>
            <a:off x="460750" y="85484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Dataset Exercise</a:t>
            </a:r>
            <a:endParaRPr dirty="0"/>
          </a:p>
        </p:txBody>
      </p:sp>
      <p:sp>
        <p:nvSpPr>
          <p:cNvPr id="180" name="Google Shape;180;p23"/>
          <p:cNvSpPr txBox="1"/>
          <p:nvPr/>
        </p:nvSpPr>
        <p:spPr>
          <a:xfrm>
            <a:off x="820525" y="4177450"/>
            <a:ext cx="7225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I’m looking for someone to share in an adventure</a:t>
            </a:r>
            <a:endParaRPr sz="1800" b="1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3" name="Picture 2" descr="A cartoon of two people talking&#10;&#10;AI-generated content may be incorrect.">
            <a:extLst>
              <a:ext uri="{FF2B5EF4-FFF2-40B4-BE49-F238E27FC236}">
                <a16:creationId xmlns:a16="http://schemas.microsoft.com/office/drawing/2014/main" id="{0AF423C5-5DBC-470E-B8CE-26EE358F94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00" r="1366" b="10430"/>
          <a:stretch>
            <a:fillRect/>
          </a:stretch>
        </p:blipFill>
        <p:spPr>
          <a:xfrm>
            <a:off x="2455813" y="899663"/>
            <a:ext cx="3985930" cy="39747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6E6E6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265</Words>
  <Application>Microsoft Macintosh PowerPoint</Application>
  <PresentationFormat>On-screen Show (16:9)</PresentationFormat>
  <Paragraphs>48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Lato</vt:lpstr>
      <vt:lpstr>Helvetica Neue</vt:lpstr>
      <vt:lpstr>Courier New</vt:lpstr>
      <vt:lpstr>Raleway</vt:lpstr>
      <vt:lpstr>minimal</vt:lpstr>
      <vt:lpstr>Python Tsunami</vt:lpstr>
      <vt:lpstr>Visual Studio Code</vt:lpstr>
      <vt:lpstr>Visual Studio Code</vt:lpstr>
      <vt:lpstr>Start up</vt:lpstr>
      <vt:lpstr>Install python</vt:lpstr>
      <vt:lpstr>Install python</vt:lpstr>
      <vt:lpstr>Jupyter</vt:lpstr>
      <vt:lpstr>Github integration</vt:lpstr>
      <vt:lpstr>Packages</vt:lpstr>
      <vt:lpstr>Installing packages</vt:lpstr>
      <vt:lpstr>Dataset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Thilde Bagger Terkelsen</cp:lastModifiedBy>
  <cp:revision>1</cp:revision>
  <dcterms:modified xsi:type="dcterms:W3CDTF">2025-11-11T12:35:01Z</dcterms:modified>
</cp:coreProperties>
</file>
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67" r:id="rId2"/>
    <p:sldId id="268" r:id="rId3"/>
    <p:sldId id="257" r:id="rId4"/>
    <p:sldId id="258" r:id="rId5"/>
    <p:sldId id="274" r:id="rId6"/>
    <p:sldId id="271" r:id="rId7"/>
    <p:sldId id="270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9" r:id="rId16"/>
    <p:sldId id="266" r:id="rId17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19"/>
      <p:bold r:id="rId20"/>
      <p:italic r:id="rId21"/>
      <p:boldItalic r:id="rId22"/>
    </p:embeddedFont>
    <p:embeddedFont>
      <p:font typeface="Lato" panose="020F0502020204030203" pitchFamily="34" charset="77"/>
      <p:regular r:id="rId23"/>
      <p:bold r:id="rId24"/>
      <p:italic r:id="rId25"/>
      <p:boldItalic r:id="rId26"/>
    </p:embeddedFont>
    <p:embeddedFont>
      <p:font typeface="Raleway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94476"/>
  </p:normalViewPr>
  <p:slideViewPr>
    <p:cSldViewPr snapToGrid="0">
      <p:cViewPr>
        <p:scale>
          <a:sx n="112" d="100"/>
          <a:sy n="112" d="100"/>
        </p:scale>
        <p:origin x="304" y="8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7F9D119-7702-90CC-52FE-80F1E6427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244962144d_0_5:notes">
            <a:extLst>
              <a:ext uri="{FF2B5EF4-FFF2-40B4-BE49-F238E27FC236}">
                <a16:creationId xmlns:a16="http://schemas.microsoft.com/office/drawing/2014/main" id="{A73D2515-49A2-BF9C-B3CF-3435109DE7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244962144d_0_5:notes">
            <a:extLst>
              <a:ext uri="{FF2B5EF4-FFF2-40B4-BE49-F238E27FC236}">
                <a16:creationId xmlns:a16="http://schemas.microsoft.com/office/drawing/2014/main" id="{B07259AB-65D3-C730-A31B-B90D2A473E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53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244962144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244962144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244962144d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244962144d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24496214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24496214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26e6258e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226e6258e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fdf2aa0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ffdf2aa0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26e6258e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226e6258e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26e6258e1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226e6258e1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fdf2aa03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fdf2aa03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44962144d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244962144d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fdf2aa03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ffdf2aa03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6CD76410-89F5-0F4C-AB75-874817EA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44962144d_0_392:notes">
            <a:extLst>
              <a:ext uri="{FF2B5EF4-FFF2-40B4-BE49-F238E27FC236}">
                <a16:creationId xmlns:a16="http://schemas.microsoft.com/office/drawing/2014/main" id="{D8C81641-F016-FF0E-855A-2492C26286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244962144d_0_392:notes">
            <a:extLst>
              <a:ext uri="{FF2B5EF4-FFF2-40B4-BE49-F238E27FC236}">
                <a16:creationId xmlns:a16="http://schemas.microsoft.com/office/drawing/2014/main" id="{3B6E9F3D-6DCE-8A28-342B-924B01ECD4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1999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44962144d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244962144d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561692" y="882218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7950" y="168350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780900" y="1686025"/>
            <a:ext cx="7179300" cy="89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94450" y="1743550"/>
            <a:ext cx="7688400" cy="8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9144000" cy="663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1297975"/>
            <a:ext cx="7688700" cy="30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1" name="Google Shape;31;p4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32" name="Google Shape;32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Google Shape;3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9144000" cy="6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29325" y="1297975"/>
            <a:ext cx="3774300" cy="30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3601" y="1297975"/>
            <a:ext cx="3774300" cy="30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1" name="Google Shape;41;p5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42" name="Google Shape;4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pic>
        <p:nvPicPr>
          <p:cNvPr id="45" name="Google Shape;4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50" name="Google Shape;5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/>
          <p:nvPr/>
        </p:nvSpPr>
        <p:spPr>
          <a:xfrm>
            <a:off x="0" y="0"/>
            <a:ext cx="9144000" cy="6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pic>
        <p:nvPicPr>
          <p:cNvPr id="54" name="Google Shape;5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58" name="Google Shape;58;p7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59" name="Google Shape;5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7"/>
          <p:cNvSpPr/>
          <p:nvPr/>
        </p:nvSpPr>
        <p:spPr>
          <a:xfrm>
            <a:off x="0" y="0"/>
            <a:ext cx="9144000" cy="6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729325" y="1297975"/>
            <a:ext cx="3774300" cy="30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7" name="Google Shape;6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486125" y="1133925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1169975" y="225467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76" name="Google Shape;76;p9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77" name="Google Shape;77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9"/>
          <p:cNvSpPr txBox="1">
            <a:spLocks noGrp="1"/>
          </p:cNvSpPr>
          <p:nvPr>
            <p:ph type="body" idx="2"/>
          </p:nvPr>
        </p:nvSpPr>
        <p:spPr>
          <a:xfrm>
            <a:off x="4643601" y="1297975"/>
            <a:ext cx="3774300" cy="30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80" name="Google Shape;8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help.ubuntu.com/community/AptGet/Howto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docs.brew.sh/Homebrew-and-Python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conda.io/projects/conda/en/stable/user-guide/concepts/installing-with-conda.html" TargetMode="External"/><Relationship Id="rId5" Type="http://schemas.openxmlformats.org/officeDocument/2006/relationships/hyperlink" Target="https://www.activestate.com/resources/quick-reads/how-to-install-and-use-pip3/" TargetMode="External"/><Relationship Id="rId4" Type="http://schemas.openxmlformats.org/officeDocument/2006/relationships/hyperlink" Target="https://code.visualstudio.com/docs/setup/mac" TargetMode="External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setup/windows" TargetMode="External"/><Relationship Id="rId2" Type="http://schemas.openxmlformats.org/officeDocument/2006/relationships/hyperlink" Target="https://www.python.org/downloads/windows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hyperlink" Target="https://docs.conda.io/projects/conda/en/stable/user-guide/concepts/installing-with-conda.html" TargetMode="External"/><Relationship Id="rId4" Type="http://schemas.openxmlformats.org/officeDocument/2006/relationships/hyperlink" Target="https://packaging.python.org/en/latest/tutorials/installing-package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ython.org/downloads/window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hills with a blue sky&#10;&#10;AI-generated content may be incorrect.">
            <a:extLst>
              <a:ext uri="{FF2B5EF4-FFF2-40B4-BE49-F238E27FC236}">
                <a16:creationId xmlns:a16="http://schemas.microsoft.com/office/drawing/2014/main" id="{184A8A15-966E-0106-10AF-4F1334C73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" y="0"/>
            <a:ext cx="9119412" cy="5143500"/>
          </a:xfrm>
          <a:prstGeom prst="rect">
            <a:avLst/>
          </a:prstGeom>
        </p:spPr>
      </p:pic>
      <p:sp>
        <p:nvSpPr>
          <p:cNvPr id="103" name="Google Shape;103;p14"/>
          <p:cNvSpPr txBox="1">
            <a:spLocks noGrp="1"/>
          </p:cNvSpPr>
          <p:nvPr>
            <p:ph type="ctrTitle"/>
          </p:nvPr>
        </p:nvSpPr>
        <p:spPr>
          <a:xfrm>
            <a:off x="2243622" y="1872224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Python Tsunami</a:t>
            </a:r>
            <a:endParaRPr dirty="0"/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"/>
          </p:nvPr>
        </p:nvSpPr>
        <p:spPr>
          <a:xfrm>
            <a:off x="1677604" y="2787701"/>
            <a:ext cx="5222774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tx2">
                    <a:lumMod val="10000"/>
                  </a:schemeClr>
                </a:solidFill>
              </a:rPr>
              <a:t>Local Installation</a:t>
            </a:r>
            <a:endParaRPr sz="1800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63CBB1F-024C-7C3C-D743-D55692F4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2A68BA-AA90-2DA6-69E7-509C9D7589FA}"/>
              </a:ext>
            </a:extLst>
          </p:cNvPr>
          <p:cNvSpPr/>
          <p:nvPr/>
        </p:nvSpPr>
        <p:spPr>
          <a:xfrm>
            <a:off x="4279887" y="1484026"/>
            <a:ext cx="4864113" cy="368564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1D44C-24C1-4B30-F9F7-E37ACBB422FB}"/>
              </a:ext>
            </a:extLst>
          </p:cNvPr>
          <p:cNvSpPr/>
          <p:nvPr/>
        </p:nvSpPr>
        <p:spPr>
          <a:xfrm>
            <a:off x="4691921" y="1867444"/>
            <a:ext cx="4077325" cy="29593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A85A9F0C-4AB5-40D7-91F3-0D80161827F0}"/>
              </a:ext>
            </a:extLst>
          </p:cNvPr>
          <p:cNvSpPr txBox="1"/>
          <p:nvPr/>
        </p:nvSpPr>
        <p:spPr>
          <a:xfrm>
            <a:off x="729450" y="1069375"/>
            <a:ext cx="7049100" cy="11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8757362F-14B0-BCB2-9A8B-9B7895E52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750" y="6749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Local Installation Options</a:t>
            </a:r>
            <a:endParaRPr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1011D7B-7A27-712C-C92F-82F58CB0FBD9}"/>
              </a:ext>
            </a:extLst>
          </p:cNvPr>
          <p:cNvSpPr txBox="1"/>
          <p:nvPr/>
        </p:nvSpPr>
        <p:spPr>
          <a:xfrm>
            <a:off x="645345" y="1261105"/>
            <a:ext cx="6645792" cy="3031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387350" indent="-285750">
              <a:lnSpc>
                <a:spcPct val="115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JupyterLab</a:t>
            </a:r>
            <a:endParaRPr lang="en-US"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387350" indent="-285750">
              <a:lnSpc>
                <a:spcPct val="115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Visual Studio Code (VSC)</a:t>
            </a:r>
          </a:p>
          <a:p>
            <a:pPr marL="387350" lvl="1" indent="-285750">
              <a:lnSpc>
                <a:spcPct val="115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PyCharm</a:t>
            </a:r>
          </a:p>
          <a:p>
            <a:pPr marL="387350" lvl="1" indent="-285750">
              <a:lnSpc>
                <a:spcPct val="115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Spyder</a:t>
            </a: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CE6B628B-80AD-072F-3D8B-255CDE28D820}"/>
              </a:ext>
            </a:extLst>
          </p:cNvPr>
          <p:cNvSpPr txBox="1"/>
          <p:nvPr/>
        </p:nvSpPr>
        <p:spPr>
          <a:xfrm>
            <a:off x="592551" y="3631340"/>
            <a:ext cx="295941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hlinkClick r:id="rId3"/>
              </a:rPr>
              <a:t>https://code.visualstudio.com/</a:t>
            </a:r>
            <a:r>
              <a:rPr lang="en-GB" dirty="0"/>
              <a:t> </a:t>
            </a:r>
            <a:endParaRPr dirty="0"/>
          </a:p>
        </p:txBody>
      </p:sp>
      <p:pic>
        <p:nvPicPr>
          <p:cNvPr id="107" name="Google Shape;107;p14">
            <a:extLst>
              <a:ext uri="{FF2B5EF4-FFF2-40B4-BE49-F238E27FC236}">
                <a16:creationId xmlns:a16="http://schemas.microsoft.com/office/drawing/2014/main" id="{0F0F262D-46D5-D720-5DB0-3E4D7120D05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l="9690" t="12944" r="9690" b="13124"/>
          <a:stretch>
            <a:fillRect/>
          </a:stretch>
        </p:blipFill>
        <p:spPr>
          <a:xfrm>
            <a:off x="7009925" y="2123436"/>
            <a:ext cx="1263973" cy="11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Free PyCharm For Students">
            <a:extLst>
              <a:ext uri="{FF2B5EF4-FFF2-40B4-BE49-F238E27FC236}">
                <a16:creationId xmlns:a16="http://schemas.microsoft.com/office/drawing/2014/main" id="{1DA40929-4DC5-99B9-1B3E-FFE69B9AE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935" y="3386032"/>
            <a:ext cx="1216472" cy="121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upyterLab · GitHub">
            <a:extLst>
              <a:ext uri="{FF2B5EF4-FFF2-40B4-BE49-F238E27FC236}">
                <a16:creationId xmlns:a16="http://schemas.microsoft.com/office/drawing/2014/main" id="{E453BD73-12CF-9556-C950-90A7E7342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854" y="2050805"/>
            <a:ext cx="1580535" cy="158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pyder (software) - Wikipedia">
            <a:extLst>
              <a:ext uri="{FF2B5EF4-FFF2-40B4-BE49-F238E27FC236}">
                <a16:creationId xmlns:a16="http://schemas.microsoft.com/office/drawing/2014/main" id="{48F30C33-5576-1B63-4E77-C3ECF2F73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868" y="3591857"/>
            <a:ext cx="1929414" cy="96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2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/>
        </p:nvSpPr>
        <p:spPr>
          <a:xfrm>
            <a:off x="729450" y="1069375"/>
            <a:ext cx="7049100" cy="11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/>
          </p:nvPr>
        </p:nvSpPr>
        <p:spPr>
          <a:xfrm>
            <a:off x="460750" y="525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Visual Studio Code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645345" y="1261105"/>
            <a:ext cx="5971585" cy="3031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3873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Free + open source solution from Microsoft</a:t>
            </a: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3873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Many programming languages</a:t>
            </a: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3873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Github</a:t>
            </a:r>
            <a:r>
              <a:rPr lang="en-GB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integration</a:t>
            </a: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3873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Easy to install</a:t>
            </a: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143264" y="4283171"/>
            <a:ext cx="321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hlinkClick r:id="rId3"/>
              </a:rPr>
              <a:t>https://code.visualstudio.com/</a:t>
            </a:r>
            <a:r>
              <a:rPr lang="en-GB" dirty="0"/>
              <a:t> </a:t>
            </a:r>
            <a:endParaRPr dirty="0"/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922" y="1980751"/>
            <a:ext cx="2093527" cy="209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2816275" y="2091125"/>
            <a:ext cx="4605900" cy="295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460750" y="525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 Studio Code</a:t>
            </a:r>
            <a:endParaRPr/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897" y="2182150"/>
            <a:ext cx="6574277" cy="2182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39584" y="1311619"/>
            <a:ext cx="646941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Disable telemetry if you would not like Microsoft collecting your data!</a:t>
            </a:r>
            <a:endParaRPr sz="16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hills with a blue sky&#10;&#10;AI-generated content may be incorrect.">
            <a:extLst>
              <a:ext uri="{FF2B5EF4-FFF2-40B4-BE49-F238E27FC236}">
                <a16:creationId xmlns:a16="http://schemas.microsoft.com/office/drawing/2014/main" id="{24405D81-C6DE-80D1-80FB-768241735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4" y="0"/>
            <a:ext cx="9119412" cy="51435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FDFBC45-9A49-AE1D-6AD4-9B79A9DDEFD1}"/>
              </a:ext>
            </a:extLst>
          </p:cNvPr>
          <p:cNvSpPr/>
          <p:nvPr/>
        </p:nvSpPr>
        <p:spPr>
          <a:xfrm>
            <a:off x="985330" y="2124825"/>
            <a:ext cx="7173340" cy="89385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8">
            <a:extLst>
              <a:ext uri="{FF2B5EF4-FFF2-40B4-BE49-F238E27FC236}">
                <a16:creationId xmlns:a16="http://schemas.microsoft.com/office/drawing/2014/main" id="{44F91BD6-5606-B626-1B83-F6B140CE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800" y="2181975"/>
            <a:ext cx="7688400" cy="836700"/>
          </a:xfrm>
        </p:spPr>
        <p:txBody>
          <a:bodyPr/>
          <a:lstStyle/>
          <a:p>
            <a:r>
              <a:rPr lang="en-US" dirty="0"/>
              <a:t>Installation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552A-D508-01B3-E1FC-9D5FBFA3B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65;p22">
            <a:extLst>
              <a:ext uri="{FF2B5EF4-FFF2-40B4-BE49-F238E27FC236}">
                <a16:creationId xmlns:a16="http://schemas.microsoft.com/office/drawing/2014/main" id="{43507884-EBDA-F35C-EB67-736B6EA2A889}"/>
              </a:ext>
            </a:extLst>
          </p:cNvPr>
          <p:cNvSpPr txBox="1">
            <a:spLocks/>
          </p:cNvSpPr>
          <p:nvPr/>
        </p:nvSpPr>
        <p:spPr>
          <a:xfrm>
            <a:off x="448875" y="10868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sz="2300" dirty="0"/>
              <a:t>Installing Python and Libraries - </a:t>
            </a:r>
            <a:r>
              <a:rPr lang="en-US" sz="2300" dirty="0"/>
              <a:t>OS X &amp; Ubuntu </a:t>
            </a:r>
            <a:endParaRPr lang="en-GB" sz="23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1595E53-D35C-5EC2-CCC9-484F28AB7F33}"/>
              </a:ext>
            </a:extLst>
          </p:cNvPr>
          <p:cNvSpPr txBox="1">
            <a:spLocks/>
          </p:cNvSpPr>
          <p:nvPr/>
        </p:nvSpPr>
        <p:spPr>
          <a:xfrm>
            <a:off x="448875" y="1023423"/>
            <a:ext cx="8807524" cy="376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lang="en-US" sz="1400" b="1" dirty="0"/>
          </a:p>
          <a:p>
            <a:r>
              <a:rPr lang="en-US" altLang="en-US" sz="1400" b="1" dirty="0">
                <a:latin typeface="Lato" panose="020F0502020204030203" pitchFamily="34" charset="77"/>
              </a:rPr>
              <a:t>Install Python via system package manager or official installer:</a:t>
            </a:r>
          </a:p>
          <a:p>
            <a:pPr lvl="1"/>
            <a:r>
              <a:rPr lang="en-US" altLang="en-US" sz="1400" b="1" dirty="0">
                <a:latin typeface="Lato" panose="020F0502020204030203" pitchFamily="34" charset="77"/>
              </a:rPr>
              <a:t>homebrew: </a:t>
            </a:r>
            <a:r>
              <a:rPr lang="en-US" altLang="en-US" sz="1000" b="1" dirty="0">
                <a:latin typeface="Lato" panose="020F0502020204030203" pitchFamily="34" charset="77"/>
                <a:hlinkClick r:id="rId2"/>
              </a:rPr>
              <a:t>https://docs.brew.sh/Homebrew-and-Python</a:t>
            </a:r>
            <a:endParaRPr lang="en-US" altLang="en-US" sz="1000" b="1" dirty="0">
              <a:latin typeface="Lato" panose="020F0502020204030203" pitchFamily="34" charset="77"/>
            </a:endParaRPr>
          </a:p>
          <a:p>
            <a:pPr lvl="1"/>
            <a:r>
              <a:rPr lang="en-US" altLang="en-US" sz="1400" b="1" dirty="0">
                <a:latin typeface="Lato" panose="020F0502020204030203" pitchFamily="34" charset="77"/>
              </a:rPr>
              <a:t>apt-get: </a:t>
            </a:r>
            <a:r>
              <a:rPr lang="en-US" altLang="en-US" sz="1200" b="1" dirty="0">
                <a:latin typeface="Lato" panose="020F0502020204030203" pitchFamily="34" charset="77"/>
                <a:hlinkClick r:id="rId3"/>
              </a:rPr>
              <a:t>https://help.ubuntu.com/community/AptGet/Howto</a:t>
            </a:r>
            <a:r>
              <a:rPr lang="en-US" altLang="en-US" sz="1200" b="1" dirty="0">
                <a:latin typeface="Lato" panose="020F0502020204030203" pitchFamily="34" charset="77"/>
              </a:rPr>
              <a:t> </a:t>
            </a:r>
          </a:p>
          <a:p>
            <a:pPr marL="146050" indent="0">
              <a:buNone/>
            </a:pPr>
            <a:endParaRPr lang="en-US" sz="1400" b="1" dirty="0"/>
          </a:p>
          <a:p>
            <a:r>
              <a:rPr lang="en-US" altLang="en-US" sz="1400" b="1" dirty="0">
                <a:latin typeface="Lato" panose="020F0502020204030203" pitchFamily="34" charset="77"/>
              </a:rPr>
              <a:t>Install Visual Studio Code:</a:t>
            </a:r>
          </a:p>
          <a:p>
            <a:pPr lvl="1"/>
            <a:r>
              <a:rPr lang="en-US" altLang="en-US" sz="1200" b="1" dirty="0">
                <a:latin typeface="Lato" panose="020F0502020204030203" pitchFamily="34" charset="77"/>
                <a:hlinkClick r:id="rId4"/>
              </a:rPr>
              <a:t>https://code.visualstudio.com/docs/setup/mac</a:t>
            </a:r>
            <a:r>
              <a:rPr lang="en-US" altLang="en-US" sz="1200" b="1" dirty="0">
                <a:latin typeface="Lato" panose="020F0502020204030203" pitchFamily="34" charset="77"/>
              </a:rPr>
              <a:t> </a:t>
            </a:r>
          </a:p>
          <a:p>
            <a:pPr lvl="1"/>
            <a:r>
              <a:rPr lang="en-US" altLang="en-US" sz="1400" dirty="0">
                <a:latin typeface="Lato" panose="020F0502020204030203" pitchFamily="34" charset="77"/>
              </a:rPr>
              <a:t>Add the official Python &amp; </a:t>
            </a:r>
            <a:r>
              <a:rPr lang="en-US" altLang="en-US" sz="1400" dirty="0" err="1">
                <a:latin typeface="Lato" panose="020F0502020204030203" pitchFamily="34" charset="77"/>
              </a:rPr>
              <a:t>Jupyter</a:t>
            </a:r>
            <a:r>
              <a:rPr lang="en-US" altLang="en-US" sz="1400" dirty="0">
                <a:latin typeface="Lato" panose="020F0502020204030203" pitchFamily="34" charset="77"/>
              </a:rPr>
              <a:t> extension in Visual studio code</a:t>
            </a:r>
            <a:endParaRPr lang="en-US" altLang="en-US" sz="1200" b="1" dirty="0">
              <a:latin typeface="Lato" panose="020F0502020204030203" pitchFamily="34" charset="77"/>
            </a:endParaRPr>
          </a:p>
          <a:p>
            <a:pPr lvl="1"/>
            <a:endParaRPr lang="en-US" sz="1400" b="1" dirty="0"/>
          </a:p>
          <a:p>
            <a:r>
              <a:rPr lang="en-US" sz="1400" b="1" dirty="0"/>
              <a:t>Set up a Python environment for reproducibility (</a:t>
            </a:r>
            <a:r>
              <a:rPr lang="en-US" sz="1400" b="1" dirty="0" err="1"/>
              <a:t>venv</a:t>
            </a:r>
            <a:r>
              <a:rPr lang="en-US" sz="1400" b="1" dirty="0"/>
              <a:t> or Conda)</a:t>
            </a:r>
          </a:p>
          <a:p>
            <a:pPr lvl="1"/>
            <a:endParaRPr lang="en-US" altLang="en-US" sz="1400" dirty="0">
              <a:latin typeface="Lato" panose="020F0502020204030203" pitchFamily="34" charset="77"/>
            </a:endParaRPr>
          </a:p>
          <a:p>
            <a:r>
              <a:rPr lang="en-US" sz="1400" b="1" dirty="0"/>
              <a:t>Install required libraries</a:t>
            </a:r>
            <a:endParaRPr lang="en-US" sz="1400" dirty="0"/>
          </a:p>
          <a:p>
            <a:pPr lvl="1"/>
            <a:r>
              <a:rPr lang="en-US" altLang="en-US" sz="1400" b="1" dirty="0">
                <a:latin typeface="Lato" panose="020F0502020204030203" pitchFamily="34" charset="77"/>
              </a:rPr>
              <a:t>Pip / Pip3:  </a:t>
            </a:r>
            <a:r>
              <a:rPr lang="en-US" altLang="en-US" sz="1200" b="1" dirty="0">
                <a:latin typeface="Lato" panose="020F0502020204030203" pitchFamily="34" charset="77"/>
                <a:hlinkClick r:id="rId5"/>
              </a:rPr>
              <a:t>https://www.activestate.com/resources/quick-reads/how-to-install-and-use-pip3/</a:t>
            </a:r>
            <a:r>
              <a:rPr lang="en-US" altLang="en-US" sz="1200" b="1" dirty="0">
                <a:latin typeface="Lato" panose="020F0502020204030203" pitchFamily="34" charset="77"/>
              </a:rPr>
              <a:t> </a:t>
            </a:r>
          </a:p>
          <a:p>
            <a:pPr lvl="1"/>
            <a:r>
              <a:rPr lang="en-US" altLang="en-US" sz="1400" b="1" dirty="0">
                <a:latin typeface="Lato" panose="020F0502020204030203" pitchFamily="34" charset="77"/>
              </a:rPr>
              <a:t>Conda: </a:t>
            </a:r>
            <a:r>
              <a:rPr lang="en-US" altLang="en-US" sz="1200" b="1" dirty="0">
                <a:latin typeface="Lato" panose="020F0502020204030203" pitchFamily="34" charset="77"/>
                <a:hlinkClick r:id="rId6"/>
              </a:rPr>
              <a:t>https://docs.conda.io/projects/conda/en/stable/user-guide/concepts/installing-with-conda.html</a:t>
            </a:r>
            <a:r>
              <a:rPr lang="en-US" altLang="en-US" sz="1200" b="1" dirty="0">
                <a:latin typeface="Lato" panose="020F0502020204030203" pitchFamily="34" charset="77"/>
              </a:rPr>
              <a:t> </a:t>
            </a:r>
          </a:p>
          <a:p>
            <a:pPr lvl="1"/>
            <a:endParaRPr lang="en-US" altLang="en-US" sz="1400" dirty="0">
              <a:latin typeface="Lato" panose="020F0502020204030203" pitchFamily="34" charset="77"/>
            </a:endParaRPr>
          </a:p>
        </p:txBody>
      </p:sp>
      <p:pic>
        <p:nvPicPr>
          <p:cNvPr id="10" name="Picture 9" descr="A white circle with people in it&#10;&#10;AI-generated content may be incorrect.">
            <a:extLst>
              <a:ext uri="{FF2B5EF4-FFF2-40B4-BE49-F238E27FC236}">
                <a16:creationId xmlns:a16="http://schemas.microsoft.com/office/drawing/2014/main" id="{4D2B34D3-9E06-743E-400D-089CE432F1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4979" y="2409791"/>
            <a:ext cx="1172545" cy="1172545"/>
          </a:xfrm>
          <a:prstGeom prst="rect">
            <a:avLst/>
          </a:prstGeom>
        </p:spPr>
      </p:pic>
      <p:pic>
        <p:nvPicPr>
          <p:cNvPr id="11" name="Picture 10" descr="A grey apple logo with a bite taken out of it&#10;&#10;AI-generated content may be incorrect.">
            <a:extLst>
              <a:ext uri="{FF2B5EF4-FFF2-40B4-BE49-F238E27FC236}">
                <a16:creationId xmlns:a16="http://schemas.microsoft.com/office/drawing/2014/main" id="{25CE499B-7F17-FBF2-4C41-72BD7786F0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1682" y="1674554"/>
            <a:ext cx="2275842" cy="128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68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4CE93-A887-0879-F8A2-2A6BC3644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297" y="905647"/>
            <a:ext cx="7548278" cy="3862794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endParaRPr lang="en-US" sz="1400" b="1" dirty="0"/>
          </a:p>
          <a:p>
            <a:r>
              <a:rPr lang="en-US" sz="1400" b="1" dirty="0"/>
              <a:t>Install Python for Windows</a:t>
            </a:r>
            <a:endParaRPr lang="en-US" sz="1400" dirty="0"/>
          </a:p>
          <a:p>
            <a:pPr lvl="1"/>
            <a:r>
              <a:rPr lang="en-US" sz="1400" dirty="0"/>
              <a:t>Use the official Python installer: </a:t>
            </a:r>
            <a:r>
              <a:rPr lang="en-US" sz="1200" b="1" dirty="0">
                <a:hlinkClick r:id="rId2"/>
              </a:rPr>
              <a:t>https://www.python.org/downloads/windows/</a:t>
            </a:r>
            <a:r>
              <a:rPr lang="en-US" sz="1200" b="1" dirty="0"/>
              <a:t> </a:t>
            </a:r>
          </a:p>
          <a:p>
            <a:pPr lvl="1"/>
            <a:r>
              <a:rPr lang="en-US" sz="1400" dirty="0"/>
              <a:t>Ensure Python is added to system PATH (ask </a:t>
            </a:r>
            <a:r>
              <a:rPr lang="en-US" sz="1400" dirty="0" err="1"/>
              <a:t>chatGPT</a:t>
            </a:r>
            <a:r>
              <a:rPr lang="en-US" sz="1400" dirty="0"/>
              <a:t>)</a:t>
            </a:r>
          </a:p>
          <a:p>
            <a:endParaRPr lang="en-US" sz="1400" b="1" dirty="0"/>
          </a:p>
          <a:p>
            <a:r>
              <a:rPr lang="en-US" sz="1400" b="1" dirty="0"/>
              <a:t>Install Visual Studio Code:</a:t>
            </a:r>
          </a:p>
          <a:p>
            <a:pPr lvl="1"/>
            <a:r>
              <a:rPr lang="en-US" sz="1200" b="1" dirty="0">
                <a:hlinkClick r:id="rId3"/>
              </a:rPr>
              <a:t>https://code.visualstudio.com/docs/setup/windows</a:t>
            </a:r>
            <a:r>
              <a:rPr lang="en-US" sz="1200" b="1" dirty="0"/>
              <a:t> </a:t>
            </a:r>
          </a:p>
          <a:p>
            <a:pPr lvl="1"/>
            <a:r>
              <a:rPr lang="en-US" sz="1400" dirty="0"/>
              <a:t>Add the official </a:t>
            </a:r>
            <a:r>
              <a:rPr lang="en-US" altLang="en-US" sz="1400" dirty="0">
                <a:latin typeface="Lato" panose="020F0502020204030203" pitchFamily="34" charset="77"/>
              </a:rPr>
              <a:t>Python &amp; </a:t>
            </a:r>
            <a:r>
              <a:rPr lang="en-US" altLang="en-US" sz="1400" dirty="0" err="1">
                <a:latin typeface="Lato" panose="020F0502020204030203" pitchFamily="34" charset="77"/>
              </a:rPr>
              <a:t>Jupyter</a:t>
            </a:r>
            <a:r>
              <a:rPr lang="en-US" altLang="en-US" sz="1400" dirty="0">
                <a:latin typeface="Lato" panose="020F0502020204030203" pitchFamily="34" charset="77"/>
              </a:rPr>
              <a:t> </a:t>
            </a:r>
            <a:r>
              <a:rPr lang="en-US" sz="1400" dirty="0"/>
              <a:t>extension to VS code</a:t>
            </a:r>
          </a:p>
          <a:p>
            <a:endParaRPr lang="en-US" sz="1400" b="1" dirty="0"/>
          </a:p>
          <a:p>
            <a:r>
              <a:rPr lang="en-US" sz="1400" b="1" dirty="0"/>
              <a:t>Set up a Python environment for reproducibility (</a:t>
            </a:r>
            <a:r>
              <a:rPr lang="en-US" sz="1400" b="1" dirty="0" err="1"/>
              <a:t>venv</a:t>
            </a:r>
            <a:r>
              <a:rPr lang="en-US" sz="1400" b="1" dirty="0"/>
              <a:t> or Conda)</a:t>
            </a:r>
          </a:p>
          <a:p>
            <a:pPr marL="146050" indent="0">
              <a:buNone/>
            </a:pPr>
            <a:endParaRPr lang="en-US" sz="1400" dirty="0"/>
          </a:p>
          <a:p>
            <a:r>
              <a:rPr lang="en-US" sz="1400" b="1" dirty="0"/>
              <a:t>Install required libraries</a:t>
            </a:r>
            <a:endParaRPr lang="en-US" sz="1400" dirty="0"/>
          </a:p>
          <a:p>
            <a:pPr lvl="1"/>
            <a:r>
              <a:rPr lang="en-US" sz="1400" b="1" dirty="0"/>
              <a:t>Pip: </a:t>
            </a:r>
            <a:r>
              <a:rPr lang="en-US" sz="1200" b="1" dirty="0">
                <a:hlinkClick r:id="rId4"/>
              </a:rPr>
              <a:t>https://packaging.python.org/en/latest/tutorials/installing-packages/</a:t>
            </a:r>
            <a:endParaRPr lang="en-US" sz="1200" b="1" dirty="0"/>
          </a:p>
          <a:p>
            <a:pPr lvl="1"/>
            <a:r>
              <a:rPr lang="en-US" altLang="en-US" sz="1400" b="1" dirty="0">
                <a:latin typeface="Lato" panose="020F0502020204030203" pitchFamily="34" charset="77"/>
              </a:rPr>
              <a:t>Conda: </a:t>
            </a:r>
            <a:r>
              <a:rPr lang="en-US" altLang="en-US" sz="1200" b="1" dirty="0">
                <a:latin typeface="Lato" panose="020F0502020204030203" pitchFamily="34" charset="77"/>
                <a:hlinkClick r:id="rId5"/>
              </a:rPr>
              <a:t>https://docs.conda.io/projects/conda/en/stable/user-guide/concepts/installing-with-conda.html</a:t>
            </a:r>
            <a:r>
              <a:rPr lang="en-US" altLang="en-US" sz="1200" b="1" dirty="0">
                <a:latin typeface="Lato" panose="020F0502020204030203" pitchFamily="34" charset="77"/>
              </a:rPr>
              <a:t> </a:t>
            </a:r>
          </a:p>
          <a:p>
            <a:pPr marL="615950" lvl="1" indent="0">
              <a:buNone/>
            </a:pPr>
            <a:endParaRPr lang="en-US" sz="1500" b="1" dirty="0"/>
          </a:p>
        </p:txBody>
      </p:sp>
      <p:sp>
        <p:nvSpPr>
          <p:cNvPr id="6" name="Google Shape;165;p22">
            <a:extLst>
              <a:ext uri="{FF2B5EF4-FFF2-40B4-BE49-F238E27FC236}">
                <a16:creationId xmlns:a16="http://schemas.microsoft.com/office/drawing/2014/main" id="{B6F996AC-796D-EC7A-90B7-F16989B069FB}"/>
              </a:ext>
            </a:extLst>
          </p:cNvPr>
          <p:cNvSpPr txBox="1">
            <a:spLocks/>
          </p:cNvSpPr>
          <p:nvPr/>
        </p:nvSpPr>
        <p:spPr>
          <a:xfrm>
            <a:off x="448875" y="10868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dirty="0"/>
              <a:t>Installing Python and Libraries - Windows</a:t>
            </a:r>
          </a:p>
        </p:txBody>
      </p:sp>
      <p:pic>
        <p:nvPicPr>
          <p:cNvPr id="14" name="Picture 13" descr="A blue square on a black background&#10;&#10;AI-generated content may be incorrect.">
            <a:extLst>
              <a:ext uri="{FF2B5EF4-FFF2-40B4-BE49-F238E27FC236}">
                <a16:creationId xmlns:a16="http://schemas.microsoft.com/office/drawing/2014/main" id="{5272C038-3075-91C5-09FF-93E38F7907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875" y="2183130"/>
            <a:ext cx="1307828" cy="130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13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24100"/>
            <a:ext cx="6604423" cy="396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460750" y="525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Start Up VS code</a:t>
            </a:r>
            <a:endParaRPr dirty="0"/>
          </a:p>
        </p:txBody>
      </p:sp>
      <p:sp>
        <p:nvSpPr>
          <p:cNvPr id="122" name="Google Shape;122;p16"/>
          <p:cNvSpPr/>
          <p:nvPr/>
        </p:nvSpPr>
        <p:spPr>
          <a:xfrm>
            <a:off x="5215550" y="2487375"/>
            <a:ext cx="2263200" cy="1046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409105" y="2263988"/>
            <a:ext cx="2812182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Lato"/>
                <a:ea typeface="Lato"/>
                <a:cs typeface="Lato"/>
                <a:sym typeface="Lato"/>
              </a:rPr>
              <a:t>When you open a python script it will help you find an interpreter</a:t>
            </a:r>
            <a:endParaRPr dirty="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460750" y="6393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Add Python Extension in VS code</a:t>
            </a:r>
            <a:endParaRPr dirty="0"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55474"/>
          <a:stretch/>
        </p:blipFill>
        <p:spPr>
          <a:xfrm>
            <a:off x="565723" y="1404193"/>
            <a:ext cx="7478754" cy="209073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2444510" y="2041572"/>
            <a:ext cx="1196100" cy="324900"/>
          </a:xfrm>
          <a:prstGeom prst="ellipse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65723" y="3639554"/>
            <a:ext cx="7688700" cy="9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Windows: Microsoft Store or global install </a:t>
            </a:r>
            <a:r>
              <a:rPr lang="en-GB" sz="1200" u="sng" dirty="0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https://www.python.org/downloads/windows/</a:t>
            </a: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Mac: App Store or command line</a:t>
            </a:r>
            <a:endParaRPr sz="12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Linux systems: Command line</a:t>
            </a:r>
            <a:endParaRPr sz="12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r="19923"/>
          <a:stretch>
            <a:fillRect/>
          </a:stretch>
        </p:blipFill>
        <p:spPr>
          <a:xfrm>
            <a:off x="1031625" y="1247850"/>
            <a:ext cx="4375262" cy="34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963098" y="2233350"/>
            <a:ext cx="324900" cy="327900"/>
          </a:xfrm>
          <a:prstGeom prst="ellipse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705934" y="1406116"/>
            <a:ext cx="2632996" cy="198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 check ‘extensions’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As you can see, I also got </a:t>
            </a:r>
            <a:r>
              <a:rPr lang="en-GB" sz="15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Jupyter</a:t>
            </a: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5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ect</a:t>
            </a: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 because I opened an </a:t>
            </a:r>
            <a:r>
              <a:rPr lang="en-GB" sz="15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ipython</a:t>
            </a: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notebook.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128;p17">
            <a:extLst>
              <a:ext uri="{FF2B5EF4-FFF2-40B4-BE49-F238E27FC236}">
                <a16:creationId xmlns:a16="http://schemas.microsoft.com/office/drawing/2014/main" id="{E1AE1E28-BCA1-1F34-BD34-AFFA5C5FE8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750" y="6393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Add Python Extension in VS code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460750" y="8123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Jupyter</a:t>
            </a:r>
            <a:r>
              <a:rPr lang="en-GB" dirty="0"/>
              <a:t> Notebook</a:t>
            </a:r>
            <a:endParaRPr dirty="0"/>
          </a:p>
        </p:txBody>
      </p:sp>
      <p:sp>
        <p:nvSpPr>
          <p:cNvPr id="145" name="Google Shape;145;p19"/>
          <p:cNvSpPr txBox="1"/>
          <p:nvPr/>
        </p:nvSpPr>
        <p:spPr>
          <a:xfrm>
            <a:off x="6224953" y="1824594"/>
            <a:ext cx="2617200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Operate as in </a:t>
            </a:r>
            <a:r>
              <a:rPr lang="en-GB" sz="15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colab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12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Code cells and text cells</a:t>
            </a:r>
            <a:b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12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Run cells with run button or </a:t>
            </a:r>
            <a:r>
              <a:rPr lang="en-GB" sz="15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shift+enter</a:t>
            </a:r>
            <a:b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12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Output appears below cell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707" y="1331844"/>
            <a:ext cx="5625246" cy="343569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2457769" y="839094"/>
            <a:ext cx="4472100" cy="9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VS code can open </a:t>
            </a:r>
            <a:r>
              <a:rPr lang="en-GB" sz="15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ipython</a:t>
            </a: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notebooks: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789" y="1053549"/>
            <a:ext cx="6154741" cy="376693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460750" y="525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Github</a:t>
            </a:r>
            <a:r>
              <a:rPr lang="en-GB" dirty="0"/>
              <a:t> Integration</a:t>
            </a:r>
            <a:endParaRPr dirty="0"/>
          </a:p>
        </p:txBody>
      </p:sp>
      <p:sp>
        <p:nvSpPr>
          <p:cNvPr id="154" name="Google Shape;154;p20"/>
          <p:cNvSpPr/>
          <p:nvPr/>
        </p:nvSpPr>
        <p:spPr>
          <a:xfrm>
            <a:off x="1912009" y="2845149"/>
            <a:ext cx="1066200" cy="226042"/>
          </a:xfrm>
          <a:prstGeom prst="ellipse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>
            <a:spLocks noGrp="1"/>
          </p:cNvSpPr>
          <p:nvPr>
            <p:ph type="title"/>
          </p:nvPr>
        </p:nvSpPr>
        <p:spPr>
          <a:xfrm>
            <a:off x="460750" y="6268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Packages</a:t>
            </a:r>
            <a:endParaRPr dirty="0"/>
          </a:p>
        </p:txBody>
      </p:sp>
      <p:sp>
        <p:nvSpPr>
          <p:cNvPr id="160" name="Google Shape;160;p21"/>
          <p:cNvSpPr txBox="1">
            <a:spLocks noGrp="1"/>
          </p:cNvSpPr>
          <p:nvPr>
            <p:ph type="body" idx="1"/>
          </p:nvPr>
        </p:nvSpPr>
        <p:spPr>
          <a:xfrm>
            <a:off x="565675" y="1243382"/>
            <a:ext cx="4866132" cy="3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/>
              <a:t>Packages are also called libraries.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5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/>
              <a:t>They are bundles of code that contain a certain functionality.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/>
              <a:t>You have already used packages:</a:t>
            </a:r>
            <a:endParaRPr sz="15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 dirty="0"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 sz="15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 dirty="0">
                <a:latin typeface="Courier New"/>
                <a:ea typeface="Courier New"/>
                <a:cs typeface="Courier New"/>
                <a:sym typeface="Courier New"/>
              </a:rPr>
              <a:t>import seaborn as </a:t>
            </a:r>
            <a:r>
              <a:rPr lang="en-GB" sz="1500" b="1" dirty="0" err="1"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endParaRPr lang="en-GB" sz="15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dirty="0"/>
              <a:t>You’ll need to have a local install of the package before you can load and use it.</a:t>
            </a:r>
            <a:endParaRPr lang="en-GB" sz="15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" name="Picture 2" descr="A circular object with many icons&#10;&#10;AI-generated content may be incorrect.">
            <a:extLst>
              <a:ext uri="{FF2B5EF4-FFF2-40B4-BE49-F238E27FC236}">
                <a16:creationId xmlns:a16="http://schemas.microsoft.com/office/drawing/2014/main" id="{B22E7592-BF48-DA27-2484-2A7A02C31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16" r="12664"/>
          <a:stretch>
            <a:fillRect/>
          </a:stretch>
        </p:blipFill>
        <p:spPr>
          <a:xfrm>
            <a:off x="5485665" y="1344038"/>
            <a:ext cx="3198630" cy="32165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>
            <a:spLocks noGrp="1"/>
          </p:cNvSpPr>
          <p:nvPr>
            <p:ph type="title"/>
          </p:nvPr>
        </p:nvSpPr>
        <p:spPr>
          <a:xfrm>
            <a:off x="460750" y="525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Installing Python and Libraries</a:t>
            </a:r>
            <a:endParaRPr dirty="0"/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538" y="1624469"/>
            <a:ext cx="3989600" cy="240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/>
        </p:nvSpPr>
        <p:spPr>
          <a:xfrm>
            <a:off x="707225" y="1227932"/>
            <a:ext cx="3442500" cy="9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Option 1: Pip  + any bash terminal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5085087" y="1227932"/>
            <a:ext cx="3442500" cy="1302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Option 2: Pip in </a:t>
            </a:r>
            <a:r>
              <a:rPr lang="en-GB" sz="1500" dirty="0" err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powershell</a:t>
            </a: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1" name="Google Shape;17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3421" y="1624468"/>
            <a:ext cx="3989600" cy="241593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/>
        </p:nvSpPr>
        <p:spPr>
          <a:xfrm>
            <a:off x="2240371" y="4425481"/>
            <a:ext cx="51861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Some systems have pip2 or pip3 instead of pip.</a:t>
            </a:r>
            <a:endParaRPr sz="1500" b="1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7E68C060-1080-3C3B-6847-BF0C1328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>
            <a:extLst>
              <a:ext uri="{FF2B5EF4-FFF2-40B4-BE49-F238E27FC236}">
                <a16:creationId xmlns:a16="http://schemas.microsoft.com/office/drawing/2014/main" id="{12C151A8-115F-C4ED-5206-3F80608F40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750" y="85484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Conda Environment </a:t>
            </a:r>
            <a:endParaRPr dirty="0"/>
          </a:p>
        </p:txBody>
      </p:sp>
      <p:sp>
        <p:nvSpPr>
          <p:cNvPr id="180" name="Google Shape;180;p23">
            <a:extLst>
              <a:ext uri="{FF2B5EF4-FFF2-40B4-BE49-F238E27FC236}">
                <a16:creationId xmlns:a16="http://schemas.microsoft.com/office/drawing/2014/main" id="{57CCE684-5CB4-8C05-4B22-844E09B2D8FA}"/>
              </a:ext>
            </a:extLst>
          </p:cNvPr>
          <p:cNvSpPr txBox="1"/>
          <p:nvPr/>
        </p:nvSpPr>
        <p:spPr>
          <a:xfrm>
            <a:off x="820525" y="4177450"/>
            <a:ext cx="722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I’m looking for someone to share in an adventure</a:t>
            </a:r>
            <a:endParaRPr sz="18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A8DF5A-99DD-4D2A-3ED5-93F4D724654F}"/>
              </a:ext>
            </a:extLst>
          </p:cNvPr>
          <p:cNvGrpSpPr/>
          <p:nvPr/>
        </p:nvGrpSpPr>
        <p:grpSpPr>
          <a:xfrm>
            <a:off x="330132" y="3162533"/>
            <a:ext cx="8483735" cy="1715590"/>
            <a:chOff x="1334293" y="8608868"/>
            <a:chExt cx="24352906" cy="4164540"/>
          </a:xfrm>
        </p:grpSpPr>
        <p:grpSp>
          <p:nvGrpSpPr>
            <p:cNvPr id="4" name="Group">
              <a:extLst>
                <a:ext uri="{FF2B5EF4-FFF2-40B4-BE49-F238E27FC236}">
                  <a16:creationId xmlns:a16="http://schemas.microsoft.com/office/drawing/2014/main" id="{DA6933E4-72AE-B90B-97D1-3F933FEC8A1B}"/>
                </a:ext>
              </a:extLst>
            </p:cNvPr>
            <p:cNvGrpSpPr/>
            <p:nvPr/>
          </p:nvGrpSpPr>
          <p:grpSpPr>
            <a:xfrm>
              <a:off x="1334293" y="8608868"/>
              <a:ext cx="15329264" cy="4164540"/>
              <a:chOff x="0" y="0"/>
              <a:chExt cx="15329263" cy="4164539"/>
            </a:xfrm>
          </p:grpSpPr>
          <p:sp>
            <p:nvSpPr>
              <p:cNvPr id="5" name="Rounded Rectangle">
                <a:extLst>
                  <a:ext uri="{FF2B5EF4-FFF2-40B4-BE49-F238E27FC236}">
                    <a16:creationId xmlns:a16="http://schemas.microsoft.com/office/drawing/2014/main" id="{BE2143A6-14F3-2910-3569-D89A0ABB4DC6}"/>
                  </a:ext>
                </a:extLst>
              </p:cNvPr>
              <p:cNvSpPr/>
              <p:nvPr/>
            </p:nvSpPr>
            <p:spPr>
              <a:xfrm>
                <a:off x="0" y="0"/>
                <a:ext cx="15329263" cy="4164539"/>
              </a:xfrm>
              <a:prstGeom prst="roundRect">
                <a:avLst>
                  <a:gd name="adj" fmla="val 16172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endParaRPr/>
              </a:p>
            </p:txBody>
          </p:sp>
          <p:pic>
            <p:nvPicPr>
              <p:cNvPr id="6" name="Picture 9" descr="Picture 9">
                <a:extLst>
                  <a:ext uri="{FF2B5EF4-FFF2-40B4-BE49-F238E27FC236}">
                    <a16:creationId xmlns:a16="http://schemas.microsoft.com/office/drawing/2014/main" id="{12BDBD2D-029E-D73B-B5C8-969BC64E5D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7789" b="7789"/>
              <a:stretch>
                <a:fillRect/>
              </a:stretch>
            </p:blipFill>
            <p:spPr>
              <a:xfrm>
                <a:off x="529190" y="102051"/>
                <a:ext cx="10652934" cy="368639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" name="Picture 8" descr="Picture 8">
                <a:extLst>
                  <a:ext uri="{FF2B5EF4-FFF2-40B4-BE49-F238E27FC236}">
                    <a16:creationId xmlns:a16="http://schemas.microsoft.com/office/drawing/2014/main" id="{73E8D1C0-77BF-25C2-96C3-450BFB8CE2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80003" y="569319"/>
                <a:ext cx="3316238" cy="284426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8" name="Rounded Rectangle">
              <a:extLst>
                <a:ext uri="{FF2B5EF4-FFF2-40B4-BE49-F238E27FC236}">
                  <a16:creationId xmlns:a16="http://schemas.microsoft.com/office/drawing/2014/main" id="{502A9EBD-3562-0A6F-92FD-74FDCD168AAB}"/>
                </a:ext>
              </a:extLst>
            </p:cNvPr>
            <p:cNvSpPr/>
            <p:nvPr/>
          </p:nvSpPr>
          <p:spPr>
            <a:xfrm>
              <a:off x="17659311" y="8608868"/>
              <a:ext cx="5377696" cy="4164539"/>
            </a:xfrm>
            <a:prstGeom prst="roundRect">
              <a:avLst>
                <a:gd name="adj" fmla="val 14810"/>
              </a:avLst>
            </a:prstGeom>
            <a:solidFill>
              <a:srgbClr val="FFFFFF"/>
            </a:solidFill>
            <a:ln w="12700">
              <a:miter lim="400000"/>
            </a:ln>
          </p:spPr>
          <p:txBody>
            <a:bodyPr lIns="45718" tIns="45718" rIns="45718" bIns="45718" anchor="ctr"/>
            <a:lstStyle/>
            <a:p>
              <a:endParaRPr/>
            </a:p>
          </p:txBody>
        </p:sp>
        <p:sp>
          <p:nvSpPr>
            <p:cNvPr id="9" name="CustomShape 15">
              <a:extLst>
                <a:ext uri="{FF2B5EF4-FFF2-40B4-BE49-F238E27FC236}">
                  <a16:creationId xmlns:a16="http://schemas.microsoft.com/office/drawing/2014/main" id="{9275E0E4-0687-A8C3-52F0-8C7BC9B9A203}"/>
                </a:ext>
              </a:extLst>
            </p:cNvPr>
            <p:cNvSpPr txBox="1"/>
            <p:nvPr/>
          </p:nvSpPr>
          <p:spPr>
            <a:xfrm>
              <a:off x="17175618" y="8760169"/>
              <a:ext cx="1832668" cy="6971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760" tIns="50760" rIns="50760" bIns="50760" anchor="ctr">
              <a:spAutoFit/>
            </a:bodyPr>
            <a:lstStyle/>
            <a:p>
              <a:pPr>
                <a:defRPr sz="2800" b="1" spc="-1">
                  <a:solidFill>
                    <a:srgbClr val="374556"/>
                  </a:solidFill>
                </a:defRPr>
              </a:pPr>
              <a:r>
                <a:rPr sz="1200" dirty="0">
                  <a:solidFill>
                    <a:srgbClr val="73A984"/>
                  </a:solidFill>
                </a:rPr>
                <a:t>PROS</a:t>
              </a:r>
              <a:r>
                <a:rPr lang="en-US" sz="1200" dirty="0">
                  <a:solidFill>
                    <a:srgbClr val="73A984"/>
                  </a:solidFill>
                </a:rPr>
                <a:t>:</a:t>
              </a:r>
              <a:endParaRPr sz="1200" dirty="0">
                <a:solidFill>
                  <a:srgbClr val="73A984"/>
                </a:solidFill>
              </a:endParaRPr>
            </a:p>
          </p:txBody>
        </p:sp>
        <p:sp>
          <p:nvSpPr>
            <p:cNvPr id="10" name="CustomShape 15">
              <a:extLst>
                <a:ext uri="{FF2B5EF4-FFF2-40B4-BE49-F238E27FC236}">
                  <a16:creationId xmlns:a16="http://schemas.microsoft.com/office/drawing/2014/main" id="{894C2D02-D6B9-3D5E-AC1C-3D44522848B5}"/>
                </a:ext>
              </a:extLst>
            </p:cNvPr>
            <p:cNvSpPr txBox="1"/>
            <p:nvPr/>
          </p:nvSpPr>
          <p:spPr>
            <a:xfrm>
              <a:off x="17175618" y="11072547"/>
              <a:ext cx="1849590" cy="6971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760" tIns="50760" rIns="50760" bIns="50760" anchor="ctr">
              <a:spAutoFit/>
            </a:bodyPr>
            <a:lstStyle/>
            <a:p>
              <a:pPr>
                <a:defRPr sz="2800" b="1" spc="-1">
                  <a:solidFill>
                    <a:srgbClr val="374556"/>
                  </a:solidFill>
                </a:defRPr>
              </a:pPr>
              <a:r>
                <a:rPr sz="1200" dirty="0"/>
                <a:t> </a:t>
              </a:r>
              <a:r>
                <a:rPr sz="1200" dirty="0">
                  <a:solidFill>
                    <a:srgbClr val="CB810B"/>
                  </a:solidFill>
                </a:rPr>
                <a:t>CONS</a:t>
              </a:r>
              <a:r>
                <a:rPr lang="en-US" sz="1200" dirty="0">
                  <a:solidFill>
                    <a:srgbClr val="CB810B"/>
                  </a:solidFill>
                </a:rPr>
                <a:t>:</a:t>
              </a:r>
              <a:endParaRPr sz="1200" dirty="0">
                <a:solidFill>
                  <a:srgbClr val="CB810B"/>
                </a:solidFill>
              </a:endParaRPr>
            </a:p>
          </p:txBody>
        </p:sp>
        <p:sp>
          <p:nvSpPr>
            <p:cNvPr id="11" name="TextShape 27">
              <a:extLst>
                <a:ext uri="{FF2B5EF4-FFF2-40B4-BE49-F238E27FC236}">
                  <a16:creationId xmlns:a16="http://schemas.microsoft.com/office/drawing/2014/main" id="{4615026E-096B-82F7-1B28-AED4E6CCA206}"/>
                </a:ext>
              </a:extLst>
            </p:cNvPr>
            <p:cNvSpPr txBox="1"/>
            <p:nvPr/>
          </p:nvSpPr>
          <p:spPr>
            <a:xfrm>
              <a:off x="19295243" y="8661350"/>
              <a:ext cx="6391956" cy="193897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>
                <a:spcBef>
                  <a:spcPts val="600"/>
                </a:spcBef>
                <a:defRPr sz="2200" spc="0">
                  <a:solidFill>
                    <a:srgbClr val="3F4756"/>
                  </a:solidFill>
                </a:defRPr>
              </a:pPr>
              <a:r>
                <a:rPr sz="1200" dirty="0">
                  <a:solidFill>
                    <a:schemeClr val="accent1"/>
                  </a:solidFill>
                  <a:latin typeface="Lato" panose="020F0502020204030203" pitchFamily="34" charset="77"/>
                </a:rPr>
                <a:t>Comprehensive, many options</a:t>
              </a:r>
            </a:p>
            <a:p>
              <a:pPr>
                <a:spcBef>
                  <a:spcPts val="600"/>
                </a:spcBef>
                <a:defRPr sz="2200" spc="0">
                  <a:solidFill>
                    <a:srgbClr val="3F4756"/>
                  </a:solidFill>
                </a:defRPr>
              </a:pPr>
              <a:r>
                <a:rPr sz="1200" dirty="0">
                  <a:solidFill>
                    <a:schemeClr val="accent1"/>
                  </a:solidFill>
                  <a:latin typeface="Lato" panose="020F0502020204030203" pitchFamily="34" charset="77"/>
                </a:rPr>
                <a:t>Environment management</a:t>
              </a:r>
            </a:p>
            <a:p>
              <a:pPr>
                <a:spcBef>
                  <a:spcPts val="600"/>
                </a:spcBef>
                <a:defRPr sz="2200" spc="0">
                  <a:solidFill>
                    <a:srgbClr val="3F4756"/>
                  </a:solidFill>
                </a:defRPr>
              </a:pPr>
              <a:r>
                <a:rPr sz="1200" dirty="0">
                  <a:solidFill>
                    <a:schemeClr val="accent1"/>
                  </a:solidFill>
                  <a:latin typeface="Lato" panose="020F0502020204030203" pitchFamily="34" charset="77"/>
                </a:rPr>
                <a:t>Well documented</a:t>
              </a:r>
            </a:p>
          </p:txBody>
        </p:sp>
        <p:sp>
          <p:nvSpPr>
            <p:cNvPr id="12" name="TextShape 27">
              <a:extLst>
                <a:ext uri="{FF2B5EF4-FFF2-40B4-BE49-F238E27FC236}">
                  <a16:creationId xmlns:a16="http://schemas.microsoft.com/office/drawing/2014/main" id="{9119E155-8E36-F56C-42F9-AC50EA6391FB}"/>
                </a:ext>
              </a:extLst>
            </p:cNvPr>
            <p:cNvSpPr txBox="1"/>
            <p:nvPr/>
          </p:nvSpPr>
          <p:spPr>
            <a:xfrm>
              <a:off x="19295243" y="11053639"/>
              <a:ext cx="6391956" cy="13039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>
              <a:lvl1pPr>
                <a:spcBef>
                  <a:spcPts val="1100"/>
                </a:spcBef>
                <a:defRPr sz="2200" spc="0">
                  <a:solidFill>
                    <a:srgbClr val="3F4756"/>
                  </a:solidFill>
                </a:defRPr>
              </a:lvl1pPr>
            </a:lstStyle>
            <a:p>
              <a:pPr>
                <a:spcBef>
                  <a:spcPts val="600"/>
                </a:spcBef>
              </a:pPr>
              <a:r>
                <a:rPr sz="1200" dirty="0">
                  <a:solidFill>
                    <a:schemeClr val="accent1"/>
                  </a:solidFill>
                  <a:latin typeface="Lato" panose="020F0502020204030203" pitchFamily="34" charset="77"/>
                </a:rPr>
                <a:t>Can be overwhelming</a:t>
              </a:r>
              <a:endParaRPr lang="en-US" sz="1200" dirty="0">
                <a:solidFill>
                  <a:schemeClr val="accent1"/>
                </a:solidFill>
                <a:latin typeface="Lato" panose="020F0502020204030203" pitchFamily="34" charset="77"/>
              </a:endParaRPr>
            </a:p>
            <a:p>
              <a:pPr>
                <a:spcBef>
                  <a:spcPts val="600"/>
                </a:spcBef>
              </a:pPr>
              <a:r>
                <a:rPr lang="da-DK" sz="1200" dirty="0" err="1">
                  <a:solidFill>
                    <a:schemeClr val="accent1"/>
                  </a:solidFill>
                  <a:latin typeface="Lato" panose="020F0502020204030203" pitchFamily="34" charset="77"/>
                </a:rPr>
                <a:t>Some</a:t>
              </a:r>
              <a:r>
                <a:rPr lang="da-DK" sz="1200" dirty="0">
                  <a:solidFill>
                    <a:schemeClr val="accent1"/>
                  </a:solidFill>
                  <a:latin typeface="Lato" panose="020F0502020204030203" pitchFamily="34" charset="77"/>
                </a:rPr>
                <a:t> </a:t>
              </a:r>
              <a:r>
                <a:rPr lang="da-DK" sz="1200" dirty="0" err="1">
                  <a:solidFill>
                    <a:schemeClr val="accent1"/>
                  </a:solidFill>
                  <a:latin typeface="Lato" panose="020F0502020204030203" pitchFamily="34" charset="77"/>
                </a:rPr>
                <a:t>channels</a:t>
              </a:r>
              <a:r>
                <a:rPr lang="da-DK" sz="1200" dirty="0">
                  <a:solidFill>
                    <a:schemeClr val="accent1"/>
                  </a:solidFill>
                  <a:latin typeface="Lato" panose="020F0502020204030203" pitchFamily="34" charset="77"/>
                </a:rPr>
                <a:t> </a:t>
              </a:r>
              <a:r>
                <a:rPr lang="da-DK" sz="1200" dirty="0" err="1">
                  <a:solidFill>
                    <a:schemeClr val="accent1"/>
                  </a:solidFill>
                  <a:latin typeface="Lato" panose="020F0502020204030203" pitchFamily="34" charset="77"/>
                </a:rPr>
                <a:t>are</a:t>
              </a:r>
              <a:r>
                <a:rPr lang="da-DK" sz="1200" dirty="0">
                  <a:solidFill>
                    <a:schemeClr val="accent1"/>
                  </a:solidFill>
                  <a:latin typeface="Lato" panose="020F0502020204030203" pitchFamily="34" charset="77"/>
                </a:rPr>
                <a:t> </a:t>
              </a:r>
              <a:r>
                <a:rPr lang="da-DK" sz="1200" b="1" dirty="0">
                  <a:solidFill>
                    <a:schemeClr val="accent1"/>
                  </a:solidFill>
                  <a:latin typeface="Lato" panose="020F0502020204030203" pitchFamily="34" charset="77"/>
                </a:rPr>
                <a:t>not</a:t>
              </a:r>
              <a:r>
                <a:rPr lang="da-DK" sz="1200" dirty="0">
                  <a:solidFill>
                    <a:schemeClr val="accent1"/>
                  </a:solidFill>
                  <a:latin typeface="Lato" panose="020F0502020204030203" pitchFamily="34" charset="77"/>
                </a:rPr>
                <a:t> </a:t>
              </a:r>
              <a:r>
                <a:rPr lang="da-DK" sz="1200" dirty="0" err="1">
                  <a:solidFill>
                    <a:schemeClr val="accent1"/>
                  </a:solidFill>
                  <a:latin typeface="Lato" panose="020F0502020204030203" pitchFamily="34" charset="77"/>
                </a:rPr>
                <a:t>free</a:t>
              </a:r>
              <a:endParaRPr sz="1200" dirty="0">
                <a:solidFill>
                  <a:schemeClr val="accent1"/>
                </a:solidFill>
                <a:latin typeface="Lato" panose="020F0502020204030203" pitchFamily="34" charset="77"/>
              </a:endParaRPr>
            </a:p>
          </p:txBody>
        </p:sp>
      </p:grpSp>
      <p:sp>
        <p:nvSpPr>
          <p:cNvPr id="14" name="Google Shape;145;p19">
            <a:extLst>
              <a:ext uri="{FF2B5EF4-FFF2-40B4-BE49-F238E27FC236}">
                <a16:creationId xmlns:a16="http://schemas.microsoft.com/office/drawing/2014/main" id="{98E57A03-917A-5DC7-0469-D0F9DA467597}"/>
              </a:ext>
            </a:extLst>
          </p:cNvPr>
          <p:cNvSpPr txBox="1"/>
          <p:nvPr/>
        </p:nvSpPr>
        <p:spPr>
          <a:xfrm>
            <a:off x="460750" y="1003634"/>
            <a:ext cx="8768998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12750" indent="-285750"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1"/>
                </a:solidFill>
                <a:latin typeface="Lato" panose="020F0502020204030203" pitchFamily="34" charset="77"/>
              </a:rPr>
              <a:t>Conda</a:t>
            </a:r>
            <a:r>
              <a:rPr lang="en-US" sz="1500" dirty="0">
                <a:solidFill>
                  <a:schemeClr val="accent1"/>
                </a:solidFill>
                <a:latin typeface="Lato" panose="020F0502020204030203" pitchFamily="34" charset="77"/>
              </a:rPr>
              <a:t> is an open source package &amp; environment management system. </a:t>
            </a:r>
          </a:p>
          <a:p>
            <a:pPr marL="412750" indent="-285750"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accent1"/>
              </a:solidFill>
              <a:latin typeface="Lato" panose="020F0502020204030203" pitchFamily="34" charset="77"/>
            </a:endParaRPr>
          </a:p>
          <a:p>
            <a:pPr marL="412750" indent="-285750"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accent1"/>
                </a:solidFill>
                <a:latin typeface="Lato" panose="020F0502020204030203" pitchFamily="34" charset="77"/>
              </a:rPr>
              <a:t>Softwares</a:t>
            </a:r>
            <a:r>
              <a:rPr lang="en-US" sz="1500" dirty="0">
                <a:solidFill>
                  <a:schemeClr val="accent1"/>
                </a:solidFill>
                <a:latin typeface="Lato" panose="020F0502020204030203" pitchFamily="34" charset="77"/>
              </a:rPr>
              <a:t> exist as </a:t>
            </a:r>
            <a:r>
              <a:rPr lang="en-US" sz="1500" dirty="0" err="1">
                <a:solidFill>
                  <a:schemeClr val="accent1"/>
                </a:solidFill>
                <a:latin typeface="Lato" panose="020F0502020204030203" pitchFamily="34" charset="77"/>
              </a:rPr>
              <a:t>conda</a:t>
            </a:r>
            <a:r>
              <a:rPr lang="en-US" sz="1500" dirty="0">
                <a:solidFill>
                  <a:schemeClr val="accent1"/>
                </a:solidFill>
                <a:latin typeface="Lato" panose="020F0502020204030203" pitchFamily="34" charset="77"/>
              </a:rPr>
              <a:t> packages, you can use </a:t>
            </a:r>
            <a:r>
              <a:rPr lang="en-US" sz="1500" dirty="0" err="1">
                <a:solidFill>
                  <a:schemeClr val="accent1"/>
                </a:solidFill>
                <a:latin typeface="Lato" panose="020F0502020204030203" pitchFamily="34" charset="77"/>
              </a:rPr>
              <a:t>conda</a:t>
            </a:r>
            <a:r>
              <a:rPr lang="en-US" sz="1500" dirty="0">
                <a:solidFill>
                  <a:schemeClr val="accent1"/>
                </a:solidFill>
                <a:latin typeface="Lato" panose="020F0502020204030203" pitchFamily="34" charset="77"/>
              </a:rPr>
              <a:t> to install them and their dependencies.</a:t>
            </a:r>
          </a:p>
          <a:p>
            <a:pPr marL="412750" indent="-285750"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accent1"/>
              </a:solidFill>
              <a:latin typeface="Lato" panose="020F0502020204030203" pitchFamily="34" charset="77"/>
            </a:endParaRPr>
          </a:p>
          <a:p>
            <a:pPr marL="412750" indent="-285750"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1"/>
                </a:solidFill>
                <a:latin typeface="Lato" panose="020F0502020204030203" pitchFamily="34" charset="77"/>
              </a:rPr>
              <a:t>An environment</a:t>
            </a:r>
            <a:r>
              <a:rPr lang="en-US" sz="1500" dirty="0">
                <a:solidFill>
                  <a:schemeClr val="accent1"/>
                </a:solidFill>
                <a:latin typeface="Lato" panose="020F0502020204030203" pitchFamily="34" charset="77"/>
              </a:rPr>
              <a:t> is a specific combination of packages in a specific version.</a:t>
            </a:r>
          </a:p>
          <a:p>
            <a:pPr marL="412750" indent="-285750"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accent1"/>
              </a:solidFill>
              <a:latin typeface="Lato" panose="020F0502020204030203" pitchFamily="34" charset="77"/>
            </a:endParaRPr>
          </a:p>
          <a:p>
            <a:pPr marL="412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 pitchFamily="34" charset="0"/>
              <a:buChar char="•"/>
            </a:pP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B668F6-6776-930C-C39E-51ACDD9A6902}"/>
              </a:ext>
            </a:extLst>
          </p:cNvPr>
          <p:cNvCxnSpPr/>
          <p:nvPr/>
        </p:nvCxnSpPr>
        <p:spPr>
          <a:xfrm>
            <a:off x="0" y="2885705"/>
            <a:ext cx="9144000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557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>
            <a:spLocks noGrp="1"/>
          </p:cNvSpPr>
          <p:nvPr>
            <p:ph type="title"/>
          </p:nvPr>
        </p:nvSpPr>
        <p:spPr>
          <a:xfrm>
            <a:off x="460750" y="85484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Dataset Exercise</a:t>
            </a:r>
            <a:endParaRPr dirty="0"/>
          </a:p>
        </p:txBody>
      </p:sp>
      <p:sp>
        <p:nvSpPr>
          <p:cNvPr id="180" name="Google Shape;180;p23"/>
          <p:cNvSpPr txBox="1"/>
          <p:nvPr/>
        </p:nvSpPr>
        <p:spPr>
          <a:xfrm>
            <a:off x="820525" y="4177450"/>
            <a:ext cx="722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I’m looking for someone to share in an adventure</a:t>
            </a:r>
            <a:endParaRPr sz="18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 descr="A cartoon of two people talking&#10;&#10;AI-generated content may be incorrect.">
            <a:extLst>
              <a:ext uri="{FF2B5EF4-FFF2-40B4-BE49-F238E27FC236}">
                <a16:creationId xmlns:a16="http://schemas.microsoft.com/office/drawing/2014/main" id="{0AF423C5-5DBC-470E-B8CE-26EE358F94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0" r="1366" b="10430"/>
          <a:stretch>
            <a:fillRect/>
          </a:stretch>
        </p:blipFill>
        <p:spPr>
          <a:xfrm>
            <a:off x="2455813" y="899663"/>
            <a:ext cx="3985930" cy="3974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6E6E6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1738</TotalTime>
  <Words>603</Words>
  <Application>Microsoft Macintosh PowerPoint</Application>
  <PresentationFormat>On-screen Show (16:9)</PresentationFormat>
  <Paragraphs>96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Courier New</vt:lpstr>
      <vt:lpstr>Arial</vt:lpstr>
      <vt:lpstr>Raleway</vt:lpstr>
      <vt:lpstr>Helvetica Neue</vt:lpstr>
      <vt:lpstr>Lato</vt:lpstr>
      <vt:lpstr>minimal</vt:lpstr>
      <vt:lpstr>Python Tsunami</vt:lpstr>
      <vt:lpstr>Local Installation Options</vt:lpstr>
      <vt:lpstr>Visual Studio Code</vt:lpstr>
      <vt:lpstr>Visual Studio Code</vt:lpstr>
      <vt:lpstr>Installation</vt:lpstr>
      <vt:lpstr>PowerPoint Presentation</vt:lpstr>
      <vt:lpstr>PowerPoint Presentation</vt:lpstr>
      <vt:lpstr>Start Up VS code</vt:lpstr>
      <vt:lpstr>Add Python Extension in VS code</vt:lpstr>
      <vt:lpstr>Add Python Extension in VS code</vt:lpstr>
      <vt:lpstr>Jupyter Notebook</vt:lpstr>
      <vt:lpstr>Github Integration</vt:lpstr>
      <vt:lpstr>Packages</vt:lpstr>
      <vt:lpstr>Installing Python and Libraries</vt:lpstr>
      <vt:lpstr>Conda Environment </vt:lpstr>
      <vt:lpstr>Dataset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Thilde Bagger Terkelsen</cp:lastModifiedBy>
  <cp:revision>16</cp:revision>
  <dcterms:modified xsi:type="dcterms:W3CDTF">2026-02-03T20:31:37Z</dcterms:modified>
</cp:coreProperties>
</file>